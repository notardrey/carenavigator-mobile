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00A77-9B52-4C3A-8731-66A26E7D86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DAE47-D8F9-4514-AEE4-13ACB50B7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72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README.md</a:t>
            </a:r>
          </a:p>
          <a:p>
            <a:r>
              <a:rPr lang="en-US"/>
              <a:t>- SYSTEM_ARCHITECTURE.md</a:t>
            </a:r>
          </a:p>
          <a:p>
            <a:r>
              <a:rPr lang="en-US"/>
              <a:t>- tmp/carefix-open.png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55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README.md</a:t>
            </a:r>
          </a:p>
          <a:p>
            <a:r>
              <a:rPr lang="en-US"/>
              <a:t>- SYSTEM_ARCHITECTURE.md sections 1 and 6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15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lib/src/models/auth/user_role.dart</a:t>
            </a:r>
          </a:p>
          <a:p>
            <a:r>
              <a:rPr lang="en-US"/>
              <a:t>- lib/src/routing/app_router.dart</a:t>
            </a:r>
          </a:p>
          <a:p>
            <a:r>
              <a:rPr lang="en-US"/>
              <a:t>- test visual artifacts named on slide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12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README.md</a:t>
            </a:r>
          </a:p>
          <a:p>
            <a:r>
              <a:rPr lang="en-US"/>
              <a:t>- SYSTEM_ARCHITECTURE.md sections 1, 5, 6, 8, and 10</a:t>
            </a:r>
          </a:p>
          <a:p>
            <a:r>
              <a:rPr lang="en-US"/>
              <a:t>- test/ and supabase/tests/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8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docs/defense/system_flowchart.mmd</a:t>
            </a:r>
          </a:p>
          <a:p>
            <a:r>
              <a:rPr lang="en-US"/>
              <a:t>- SYSTEM_ARCHITECTURE.md section 6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87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README.md</a:t>
            </a:r>
          </a:p>
          <a:p>
            <a:r>
              <a:rPr lang="en-US"/>
              <a:t>- SYSTEM_ARCHITECTURE.md sections 8 and 11</a:t>
            </a:r>
          </a:p>
          <a:p>
            <a:r>
              <a:rPr lang="en-US"/>
              <a:t>- VERIFICATION_REPORT.md</a:t>
            </a:r>
          </a:p>
          <a:p>
            <a:r>
              <a:rPr lang="en-US"/>
              <a:t>- Local flutter test run, 2026-09-02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19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docs/defense/system_architecture.mmd</a:t>
            </a:r>
          </a:p>
          <a:p>
            <a:r>
              <a:rPr lang="en-US"/>
              <a:t>- SYSTEM_ARCHITECTURE.md sections 2 through 5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51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- docs/defense/database_erd.mmd</a:t>
            </a:r>
          </a:p>
          <a:p>
            <a:r>
              <a:rPr lang="fr-FR"/>
              <a:t>- supabase/migrations/</a:t>
            </a:r>
          </a:p>
          <a:p>
            <a:r>
              <a:rPr lang="fr-FR"/>
              <a:t>- lib/src/repositories/</a:t>
            </a:r>
          </a:p>
          <a:p>
            <a:r>
              <a:rPr lang="fr-FR"/>
              <a:t>[/Sources]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46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SYSTEM_ARCHITECTURE.md sections 7 and 8</a:t>
            </a:r>
          </a:p>
          <a:p>
            <a:r>
              <a:rPr lang="en-US"/>
              <a:t>- docs/MULTI_HOSPITAL_SCHEMA_AUTHORIZATION_AUDIT.md</a:t>
            </a:r>
          </a:p>
          <a:p>
            <a:r>
              <a:rPr lang="en-US"/>
              <a:t>- supabase/migrations/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83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tmp/carefix-result.png</a:t>
            </a:r>
          </a:p>
          <a:p>
            <a:r>
              <a:rPr lang="en-US"/>
              <a:t>- test/failures/doctor_prescriptions_web_testImage.png</a:t>
            </a:r>
          </a:p>
          <a:p>
            <a:r>
              <a:rPr lang="en-US"/>
              <a:t>- test/visual_catalog/hospital_availability_web.png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94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Local command: flutter analyze (no issues), 2026-09-02</a:t>
            </a:r>
          </a:p>
          <a:p>
            <a:r>
              <a:rPr lang="en-US"/>
              <a:t>- Local command: flutter test (243 passed, 11 skipped, 8 failed), 2026-09-02</a:t>
            </a:r>
          </a:p>
          <a:p>
            <a:r>
              <a:rPr lang="en-US"/>
              <a:t>- supabase/migrations/ directory count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62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git log through 5bd0866</a:t>
            </a:r>
          </a:p>
          <a:p>
            <a:r>
              <a:rPr lang="en-US"/>
              <a:t>- PRE_BUILD_REPORT.md</a:t>
            </a:r>
          </a:p>
          <a:p>
            <a:r>
              <a:rPr lang="en-US"/>
              <a:t>- supabase/migrations/</a:t>
            </a:r>
          </a:p>
          <a:p>
            <a:r>
              <a:rPr lang="en-US"/>
              <a:t>- Local verification on 2026-09-02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35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SYSTEM_ARCHITECTURE.md section 11</a:t>
            </a:r>
          </a:p>
          <a:p>
            <a:r>
              <a:rPr lang="en-US"/>
              <a:t>- VERIFICATION_REPORT.md remaining production verification</a:t>
            </a:r>
          </a:p>
          <a:p>
            <a:r>
              <a:rPr lang="en-US"/>
              <a:t>- Local visual regression run 2026-09-02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52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- README.md</a:t>
            </a:r>
          </a:p>
          <a:p>
            <a:r>
              <a:rPr lang="en-US"/>
              <a:t>- SYSTEM_ARCHITECTURE.md</a:t>
            </a:r>
          </a:p>
          <a:p>
            <a:r>
              <a:rPr lang="en-US"/>
              <a:t>- Local repository and verification evidence reviewed 2026-09-02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5DAE47-D8F9-4514-AEE4-13ACB50B7C5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39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18290-05C1-E3E7-97C4-F9F0C577E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917D1-655F-3B0B-E458-3110D2C9C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AE0B9-2BFF-7B7C-639A-A96D95AB5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715-FCF8-42D3-8565-D4FF6F45626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76663-F3DE-ABE5-9066-D4FB48408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6153E-F44F-7FD0-902E-7D648296C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1F5-FD55-4E35-8509-2A8B76BE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0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CDA3-5355-30BE-073C-E6649D9C3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DCF5D-9C4B-097E-A077-1A83455C4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EAC26-9903-5CEB-3533-3AE0A5BC2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715-FCF8-42D3-8565-D4FF6F45626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33677-DE4C-3DA6-E141-C860F561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77B3C-8FF3-22BC-1BF3-23BBB57A4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1F5-FD55-4E35-8509-2A8B76BE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14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520D2-31B5-240F-92C0-920C4D1FC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75D50-851A-9EA5-C13B-9037B2002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83B34-8255-D0A0-0BDF-5B347951E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715-FCF8-42D3-8565-D4FF6F45626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9908B-5E4E-49F8-4C18-529762ACC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36010-F1A6-AC18-B5CD-5FE14DA8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1F5-FD55-4E35-8509-2A8B76BE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634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C6B0-00AF-C0D3-509C-D80CF38E9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3D4D9-330A-C5B9-2060-C09668E86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C5AD2-C029-DF4F-B367-E12D34527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0C1C8-DE0E-055D-D2F0-6175C15C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715-FCF8-42D3-8565-D4FF6F45626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D5F88-5A1C-B8B5-97E7-4C9A2574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B4084-3CBA-8470-3A35-D84F3A1E2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1F5-FD55-4E35-8509-2A8B76BE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40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123E0-2250-5094-6B48-23CF041FD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B4E84-B11C-97B5-82E0-AE4535CA3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90D8E-B1B3-ADC2-24CB-0F25113FC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B437F0-BF6A-505A-6AAA-50FF7391F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43042-5946-EC1E-EC3E-E9788F42F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2ED5E-2A7F-7EBE-3B65-CF6D118B5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715-FCF8-42D3-8565-D4FF6F45626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AB3B08-6CA6-5C11-0869-9FB47D3F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C7A2E4-B9CB-8D13-5F3D-D7CB658C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1F5-FD55-4E35-8509-2A8B76BE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2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3BE7-23A0-BEFB-E468-EB52D07F0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C8135-A539-E01A-1746-6FFE4908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715-FCF8-42D3-8565-D4FF6F45626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0D464-6648-7A1C-174A-65673F9B0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7265D-BA89-BC89-739F-229D84A5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1F5-FD55-4E35-8509-2A8B76BE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9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74B0B2-E865-A0BA-E069-F248C1EA1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715-FCF8-42D3-8565-D4FF6F45626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F15C7-6468-5E19-0573-B802D4F64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508FB-1FA9-8A71-8F32-DECD6329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1F5-FD55-4E35-8509-2A8B76BE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63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EE38-D8EE-1BE8-09D7-AE99E0644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C2737-8743-E644-EA7B-FA1616CB7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D855F-805E-888E-5047-7A7A516B6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F0D69-4D64-14B8-2F9F-76968AA28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715-FCF8-42D3-8565-D4FF6F45626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C1194-C44E-0115-60A6-CD10657FF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2DB09-1A25-0434-7040-2F499DDC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1F5-FD55-4E35-8509-2A8B76BE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4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1285-41E7-C43A-3398-AF2DA54CE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FCB60-98FF-8D14-9EDF-270E3E50AA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A9499-8FEB-2E05-8D9A-EC9BE0DDE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2013A-7FD1-D6D7-C061-8030992B7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715-FCF8-42D3-8565-D4FF6F45626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4C9B6-4ADB-7343-6245-A2D14628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BF1BB-2785-FA53-4D88-F9B41C8A7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1F5-FD55-4E35-8509-2A8B76BE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4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24CF1-F4A9-DC62-D4C2-DD7CEB8E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CF34D-D1EA-42B1-3D22-DF550CE74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F45D7-5DBA-17F9-7116-092DF59A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715-FCF8-42D3-8565-D4FF6F45626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8E5C1-4279-C803-FD46-FCA29FC3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67961-0BF0-1E5F-300A-482AA838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1F5-FD55-4E35-8509-2A8B76BE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57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96CBB-0064-5AAF-88F7-C2D622589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83658-5AA0-114C-46E5-A31B98B4D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71886-9703-A538-AF21-2DA68203E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4F715-FCF8-42D3-8565-D4FF6F45626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F9078-6A6E-6C6A-B710-14185016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09BBF-BFC4-8CB0-778D-BE0F666E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981F5-FD55-4E35-8509-2A8B76BE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37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0241F-86BD-5D7E-E212-6F17BDD4E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8B7C0-81B4-A7FA-2479-6FCB2CCDD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CA027-EACA-CFE7-DABB-5DD47DA0E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4F715-FCF8-42D3-8565-D4FF6F456263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6CF57-6C16-E8E8-4622-15F5129FF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CD661-130B-D3A0-4063-8701122F5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981F5-FD55-4E35-8509-2A8B76BE6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98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>
            <a:extLst>
              <a:ext uri="{FF2B5EF4-FFF2-40B4-BE49-F238E27FC236}">
                <a16:creationId xmlns:a16="http://schemas.microsoft.com/office/drawing/2014/main" id="{9B32E9B1-09C6-9DC4-2020-0D2304991B32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rand-icon">
            <a:extLst>
              <a:ext uri="{FF2B5EF4-FFF2-40B4-BE49-F238E27FC236}">
                <a16:creationId xmlns:a16="http://schemas.microsoft.com/office/drawing/2014/main" id="{E812F2A1-FBAC-C408-15B6-4406AAE4FE3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546100"/>
            <a:ext cx="787400" cy="787400"/>
          </a:xfrm>
          <a:prstGeom prst="rect">
            <a:avLst/>
          </a:prstGeom>
        </p:spPr>
      </p:pic>
      <p:sp>
        <p:nvSpPr>
          <p:cNvPr id="5" name="cover-title">
            <a:extLst>
              <a:ext uri="{FF2B5EF4-FFF2-40B4-BE49-F238E27FC236}">
                <a16:creationId xmlns:a16="http://schemas.microsoft.com/office/drawing/2014/main" id="{D1C39883-0666-6705-9038-B29388EB5D71}"/>
              </a:ext>
            </a:extLst>
          </p:cNvPr>
          <p:cNvSpPr txBox="1"/>
          <p:nvPr/>
        </p:nvSpPr>
        <p:spPr>
          <a:xfrm>
            <a:off x="1600200" y="6350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5400" b="1">
                <a:solidFill>
                  <a:srgbClr val="0B2545"/>
                </a:solidFill>
                <a:latin typeface="Aptos" panose="020B0004020202020204" pitchFamily="34" charset="0"/>
              </a:rPr>
              <a:t>CareNavigator PH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71BDC68B-AED6-2E27-0905-43B499C5E0FA}"/>
              </a:ext>
            </a:extLst>
          </p:cNvPr>
          <p:cNvSpPr txBox="1"/>
          <p:nvPr/>
        </p:nvSpPr>
        <p:spPr>
          <a:xfrm>
            <a:off x="609600" y="1574800"/>
            <a:ext cx="1022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163041"/>
                </a:solidFill>
                <a:latin typeface="Aptos" panose="020B0004020202020204" pitchFamily="34" charset="0"/>
              </a:rPr>
              <a:t>A role-aware healthcare navigation and digital care platform</a:t>
            </a:r>
          </a:p>
        </p:txBody>
      </p:sp>
      <p:sp>
        <p:nvSpPr>
          <p:cNvPr id="7" name="cover-label">
            <a:extLst>
              <a:ext uri="{FF2B5EF4-FFF2-40B4-BE49-F238E27FC236}">
                <a16:creationId xmlns:a16="http://schemas.microsoft.com/office/drawing/2014/main" id="{CE054C94-C59A-3C0E-AE89-666EDBC5CFE9}"/>
              </a:ext>
            </a:extLst>
          </p:cNvPr>
          <p:cNvSpPr txBox="1"/>
          <p:nvPr/>
        </p:nvSpPr>
        <p:spPr>
          <a:xfrm>
            <a:off x="609600" y="2159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008B8B"/>
                </a:solidFill>
                <a:latin typeface="Aptos" panose="020B0004020202020204" pitchFamily="34" charset="0"/>
              </a:rPr>
              <a:t>SYSTEM DEFENSE PRESENTATION</a:t>
            </a:r>
          </a:p>
        </p:txBody>
      </p:sp>
      <p:sp>
        <p:nvSpPr>
          <p:cNvPr id="8" name="hero-frame">
            <a:extLst>
              <a:ext uri="{FF2B5EF4-FFF2-40B4-BE49-F238E27FC236}">
                <a16:creationId xmlns:a16="http://schemas.microsoft.com/office/drawing/2014/main" id="{4A4082E2-B197-9F3A-0F6A-8550DD367161}"/>
              </a:ext>
            </a:extLst>
          </p:cNvPr>
          <p:cNvSpPr/>
          <p:nvPr/>
        </p:nvSpPr>
        <p:spPr>
          <a:xfrm>
            <a:off x="609600" y="2743200"/>
            <a:ext cx="10972800" cy="3124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are-assistant-screen">
            <a:extLst>
              <a:ext uri="{FF2B5EF4-FFF2-40B4-BE49-F238E27FC236}">
                <a16:creationId xmlns:a16="http://schemas.microsoft.com/office/drawing/2014/main" id="{20162331-A332-B8C8-D4F8-963EDAB978E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010" y="2870200"/>
            <a:ext cx="6375980" cy="2870200"/>
          </a:xfrm>
          <a:prstGeom prst="rect">
            <a:avLst/>
          </a:prstGeom>
        </p:spPr>
      </p:pic>
      <p:sp>
        <p:nvSpPr>
          <p:cNvPr id="11" name="cover-meta">
            <a:extLst>
              <a:ext uri="{FF2B5EF4-FFF2-40B4-BE49-F238E27FC236}">
                <a16:creationId xmlns:a16="http://schemas.microsoft.com/office/drawing/2014/main" id="{71A6CCFC-01E1-05EA-E74F-F3AC07FD6DD8}"/>
              </a:ext>
            </a:extLst>
          </p:cNvPr>
          <p:cNvSpPr txBox="1"/>
          <p:nvPr/>
        </p:nvSpPr>
        <p:spPr>
          <a:xfrm>
            <a:off x="609600" y="61849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Prepared for project defense  |  02 September 2026  |  Proponents: [Insert names]</a:t>
            </a:r>
          </a:p>
        </p:txBody>
      </p:sp>
    </p:spTree>
    <p:extLst>
      <p:ext uri="{BB962C8B-B14F-4D97-AF65-F5344CB8AC3E}">
        <p14:creationId xmlns:p14="http://schemas.microsoft.com/office/powerpoint/2010/main" val="111810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4B0A805A-6F87-2ABD-18A9-C545EC7FBD31}"/>
              </a:ext>
            </a:extLst>
          </p:cNvPr>
          <p:cNvSpPr txBox="1"/>
          <p:nvPr/>
        </p:nvSpPr>
        <p:spPr>
          <a:xfrm>
            <a:off x="533400" y="304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008B8B"/>
                </a:solidFill>
                <a:latin typeface="Aptos" panose="020B0004020202020204" pitchFamily="34" charset="0"/>
              </a:rPr>
              <a:t>SYSTEM DEFENSE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E5B43B6-14B1-F3AA-BA35-46F98CF88463}"/>
              </a:ext>
            </a:extLst>
          </p:cNvPr>
          <p:cNvSpPr txBox="1"/>
          <p:nvPr/>
        </p:nvSpPr>
        <p:spPr>
          <a:xfrm>
            <a:off x="533400" y="6096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Care access breaks across disconnected steps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B29754-25BB-B6F5-E4A6-85CF0029E000}"/>
              </a:ext>
            </a:extLst>
          </p:cNvPr>
          <p:cNvCxnSpPr/>
          <p:nvPr/>
        </p:nvCxnSpPr>
        <p:spPr>
          <a:xfrm>
            <a:off x="533400" y="1358900"/>
            <a:ext cx="111252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number">
            <a:extLst>
              <a:ext uri="{FF2B5EF4-FFF2-40B4-BE49-F238E27FC236}">
                <a16:creationId xmlns:a16="http://schemas.microsoft.com/office/drawing/2014/main" id="{8E8F0E17-2DCD-BF64-7A60-2B8D1A21AF0E}"/>
              </a:ext>
            </a:extLst>
          </p:cNvPr>
          <p:cNvSpPr txBox="1"/>
          <p:nvPr/>
        </p:nvSpPr>
        <p:spPr>
          <a:xfrm>
            <a:off x="11430000" y="64770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900">
                <a:solidFill>
                  <a:srgbClr val="5B7080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" name="problem-statement">
            <a:extLst>
              <a:ext uri="{FF2B5EF4-FFF2-40B4-BE49-F238E27FC236}">
                <a16:creationId xmlns:a16="http://schemas.microsoft.com/office/drawing/2014/main" id="{BC525D58-A41F-9602-9F00-FC2CB98D4733}"/>
              </a:ext>
            </a:extLst>
          </p:cNvPr>
          <p:cNvSpPr txBox="1"/>
          <p:nvPr/>
        </p:nvSpPr>
        <p:spPr>
          <a:xfrm>
            <a:off x="533400" y="17145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 b="1">
                <a:solidFill>
                  <a:srgbClr val="0B2545"/>
                </a:solidFill>
                <a:latin typeface="Aptos" panose="020B0004020202020204" pitchFamily="34" charset="0"/>
              </a:rPr>
              <a:t>Finding a hospital is only the first decision.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5BBD63-FF15-0788-72B2-70559239F396}"/>
              </a:ext>
            </a:extLst>
          </p:cNvPr>
          <p:cNvSpPr/>
          <p:nvPr/>
        </p:nvSpPr>
        <p:spPr>
          <a:xfrm>
            <a:off x="533400" y="32639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ullet">
            <a:extLst>
              <a:ext uri="{FF2B5EF4-FFF2-40B4-BE49-F238E27FC236}">
                <a16:creationId xmlns:a16="http://schemas.microsoft.com/office/drawing/2014/main" id="{EF553804-CF1D-FB0F-3419-60D4C6BD8351}"/>
              </a:ext>
            </a:extLst>
          </p:cNvPr>
          <p:cNvSpPr txBox="1"/>
          <p:nvPr/>
        </p:nvSpPr>
        <p:spPr>
          <a:xfrm>
            <a:off x="762000" y="3175000"/>
            <a:ext cx="6121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163041"/>
                </a:solidFill>
                <a:latin typeface="Aptos" panose="020B0004020202020204" pitchFamily="34" charset="0"/>
              </a:rPr>
              <a:t>Public hospital, service, clinician, schedule, and capacity information are difficult to compare in one place.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673440-F561-49D8-E178-25F5A94D1605}"/>
              </a:ext>
            </a:extLst>
          </p:cNvPr>
          <p:cNvSpPr/>
          <p:nvPr/>
        </p:nvSpPr>
        <p:spPr>
          <a:xfrm>
            <a:off x="533400" y="42799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ullet">
            <a:extLst>
              <a:ext uri="{FF2B5EF4-FFF2-40B4-BE49-F238E27FC236}">
                <a16:creationId xmlns:a16="http://schemas.microsoft.com/office/drawing/2014/main" id="{283E43A9-947A-2486-0DB5-3633028B58B4}"/>
              </a:ext>
            </a:extLst>
          </p:cNvPr>
          <p:cNvSpPr txBox="1"/>
          <p:nvPr/>
        </p:nvSpPr>
        <p:spPr>
          <a:xfrm>
            <a:off x="762000" y="4191000"/>
            <a:ext cx="6121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163041"/>
                </a:solidFill>
                <a:latin typeface="Aptos" panose="020B0004020202020204" pitchFamily="34" charset="0"/>
              </a:rPr>
              <a:t>Guest intake, booking, consultation, and follow-up often require repeated handoffs and duplicate information.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BB41C2-24AA-459C-6CE6-24F09F01D7B5}"/>
              </a:ext>
            </a:extLst>
          </p:cNvPr>
          <p:cNvSpPr/>
          <p:nvPr/>
        </p:nvSpPr>
        <p:spPr>
          <a:xfrm>
            <a:off x="533400" y="52959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ullet">
            <a:extLst>
              <a:ext uri="{FF2B5EF4-FFF2-40B4-BE49-F238E27FC236}">
                <a16:creationId xmlns:a16="http://schemas.microsoft.com/office/drawing/2014/main" id="{D7310B2C-8516-EFFF-6723-1F55710EE7CD}"/>
              </a:ext>
            </a:extLst>
          </p:cNvPr>
          <p:cNvSpPr txBox="1"/>
          <p:nvPr/>
        </p:nvSpPr>
        <p:spPr>
          <a:xfrm>
            <a:off x="762000" y="5207000"/>
            <a:ext cx="6121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163041"/>
                </a:solidFill>
                <a:latin typeface="Aptos" panose="020B0004020202020204" pitchFamily="34" charset="0"/>
              </a:rPr>
              <a:t>Clinical records, documents, prescriptions, laboratory results, and reminders can become fragmented across actors.</a:t>
            </a:r>
          </a:p>
        </p:txBody>
      </p:sp>
      <p:sp>
        <p:nvSpPr>
          <p:cNvPr id="13" name="response-field">
            <a:extLst>
              <a:ext uri="{FF2B5EF4-FFF2-40B4-BE49-F238E27FC236}">
                <a16:creationId xmlns:a16="http://schemas.microsoft.com/office/drawing/2014/main" id="{BFB2B7E8-BB11-AF4F-636D-FD731FD06ADB}"/>
              </a:ext>
            </a:extLst>
          </p:cNvPr>
          <p:cNvSpPr/>
          <p:nvPr/>
        </p:nvSpPr>
        <p:spPr>
          <a:xfrm>
            <a:off x="7696200" y="1727200"/>
            <a:ext cx="3962400" cy="4445000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sponse-label">
            <a:extLst>
              <a:ext uri="{FF2B5EF4-FFF2-40B4-BE49-F238E27FC236}">
                <a16:creationId xmlns:a16="http://schemas.microsoft.com/office/drawing/2014/main" id="{61094DFE-1571-3F28-43B1-EB793911B04D}"/>
              </a:ext>
            </a:extLst>
          </p:cNvPr>
          <p:cNvSpPr txBox="1"/>
          <p:nvPr/>
        </p:nvSpPr>
        <p:spPr>
          <a:xfrm>
            <a:off x="8102600" y="2108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26A69A"/>
                </a:solidFill>
                <a:latin typeface="Aptos" panose="020B0004020202020204" pitchFamily="34" charset="0"/>
              </a:rPr>
              <a:t>DESIGN RESPONSE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520B657B-964E-8780-8803-DDD4D7F09A30}"/>
              </a:ext>
            </a:extLst>
          </p:cNvPr>
          <p:cNvSpPr txBox="1"/>
          <p:nvPr/>
        </p:nvSpPr>
        <p:spPr>
          <a:xfrm>
            <a:off x="8102600" y="27432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26A69A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48DC341-EA53-EF00-D158-D55096229D13}"/>
              </a:ext>
            </a:extLst>
          </p:cNvPr>
          <p:cNvSpPr txBox="1"/>
          <p:nvPr/>
        </p:nvSpPr>
        <p:spPr>
          <a:xfrm>
            <a:off x="8788400" y="27432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Guide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DA25D1D-B460-C0FC-8B1B-640C48B68EBA}"/>
              </a:ext>
            </a:extLst>
          </p:cNvPr>
          <p:cNvSpPr txBox="1"/>
          <p:nvPr/>
        </p:nvSpPr>
        <p:spPr>
          <a:xfrm>
            <a:off x="8788400" y="3136900"/>
            <a:ext cx="23114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EDF2F5"/>
                </a:solidFill>
                <a:latin typeface="Aptos" panose="020B0004020202020204" pitchFamily="34" charset="0"/>
              </a:rPr>
              <a:t>Verified discovery plus safety-aware assistance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E699FBE6-157C-751A-B473-1A7981534657}"/>
              </a:ext>
            </a:extLst>
          </p:cNvPr>
          <p:cNvSpPr txBox="1"/>
          <p:nvPr/>
        </p:nvSpPr>
        <p:spPr>
          <a:xfrm>
            <a:off x="8102600" y="38989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26A69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70A5C20A-098D-2580-2ECE-A9FF15BBE9A2}"/>
              </a:ext>
            </a:extLst>
          </p:cNvPr>
          <p:cNvSpPr txBox="1"/>
          <p:nvPr/>
        </p:nvSpPr>
        <p:spPr>
          <a:xfrm>
            <a:off x="8788400" y="38989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Connect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9A054AB1-1015-40F5-583B-314E0936D419}"/>
              </a:ext>
            </a:extLst>
          </p:cNvPr>
          <p:cNvSpPr txBox="1"/>
          <p:nvPr/>
        </p:nvSpPr>
        <p:spPr>
          <a:xfrm>
            <a:off x="8788400" y="4292600"/>
            <a:ext cx="2311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EDF2F5"/>
                </a:solidFill>
                <a:latin typeface="Aptos" panose="020B0004020202020204" pitchFamily="34" charset="0"/>
              </a:rPr>
              <a:t>A continuous path from request to consultation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1C6FD186-0D41-EFE9-D79E-8B467743ED02}"/>
              </a:ext>
            </a:extLst>
          </p:cNvPr>
          <p:cNvSpPr txBox="1"/>
          <p:nvPr/>
        </p:nvSpPr>
        <p:spPr>
          <a:xfrm>
            <a:off x="8102600" y="50546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26A69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706DF05A-544A-2E26-DD30-11AD414ED7EA}"/>
              </a:ext>
            </a:extLst>
          </p:cNvPr>
          <p:cNvSpPr txBox="1"/>
          <p:nvPr/>
        </p:nvSpPr>
        <p:spPr>
          <a:xfrm>
            <a:off x="8788400" y="50546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Protect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C1346AD4-204D-6E80-F2D0-9BCAD3994AC0}"/>
              </a:ext>
            </a:extLst>
          </p:cNvPr>
          <p:cNvSpPr txBox="1"/>
          <p:nvPr/>
        </p:nvSpPr>
        <p:spPr>
          <a:xfrm>
            <a:off x="8788400" y="5448300"/>
            <a:ext cx="23114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EDF2F5"/>
                </a:solidFill>
                <a:latin typeface="Aptos" panose="020B0004020202020204" pitchFamily="34" charset="0"/>
              </a:rPr>
              <a:t>Role-scoped data, private files, and auditability</a:t>
            </a:r>
          </a:p>
        </p:txBody>
      </p:sp>
    </p:spTree>
    <p:extLst>
      <p:ext uri="{BB962C8B-B14F-4D97-AF65-F5344CB8AC3E}">
        <p14:creationId xmlns:p14="http://schemas.microsoft.com/office/powerpoint/2010/main" val="1239150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EEBF498A-C9D9-4E14-A545-FCAAD127E247}"/>
              </a:ext>
            </a:extLst>
          </p:cNvPr>
          <p:cNvSpPr txBox="1"/>
          <p:nvPr/>
        </p:nvSpPr>
        <p:spPr>
          <a:xfrm>
            <a:off x="533400" y="304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008B8B"/>
                </a:solidFill>
                <a:latin typeface="Aptos" panose="020B0004020202020204" pitchFamily="34" charset="0"/>
              </a:rPr>
              <a:t>SYSTEM DEFENSE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B15554A5-BF4B-3ABE-5B02-F57D49A59B92}"/>
              </a:ext>
            </a:extLst>
          </p:cNvPr>
          <p:cNvSpPr txBox="1"/>
          <p:nvPr/>
        </p:nvSpPr>
        <p:spPr>
          <a:xfrm>
            <a:off x="533400" y="6096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One platform supports five role-aware experiences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34F9DA-24EE-D1F0-B476-88696EAC80E6}"/>
              </a:ext>
            </a:extLst>
          </p:cNvPr>
          <p:cNvCxnSpPr/>
          <p:nvPr/>
        </p:nvCxnSpPr>
        <p:spPr>
          <a:xfrm>
            <a:off x="533400" y="1358900"/>
            <a:ext cx="111252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number">
            <a:extLst>
              <a:ext uri="{FF2B5EF4-FFF2-40B4-BE49-F238E27FC236}">
                <a16:creationId xmlns:a16="http://schemas.microsoft.com/office/drawing/2014/main" id="{FA967628-15E1-4B5F-7941-C8CEDBA7E9C8}"/>
              </a:ext>
            </a:extLst>
          </p:cNvPr>
          <p:cNvSpPr txBox="1"/>
          <p:nvPr/>
        </p:nvSpPr>
        <p:spPr>
          <a:xfrm>
            <a:off x="11430000" y="64770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900">
                <a:solidFill>
                  <a:srgbClr val="5B7080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519F340-958A-16D4-3640-7417A1FBC83A}"/>
              </a:ext>
            </a:extLst>
          </p:cNvPr>
          <p:cNvSpPr txBox="1"/>
          <p:nvPr/>
        </p:nvSpPr>
        <p:spPr>
          <a:xfrm>
            <a:off x="533400" y="1625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5B7080"/>
                </a:solidFill>
                <a:latin typeface="Aptos" panose="020B0004020202020204" pitchFamily="34" charset="0"/>
              </a:rPr>
              <a:t>The same care journey changes by responsibility; routes, actions, and data visibility follow the signed-in role.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C3E66D3F-2432-2185-6A83-9712B605E071}"/>
              </a:ext>
            </a:extLst>
          </p:cNvPr>
          <p:cNvSpPr/>
          <p:nvPr/>
        </p:nvSpPr>
        <p:spPr>
          <a:xfrm>
            <a:off x="533400" y="2260600"/>
            <a:ext cx="2032000" cy="34290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">
            <a:extLst>
              <a:ext uri="{FF2B5EF4-FFF2-40B4-BE49-F238E27FC236}">
                <a16:creationId xmlns:a16="http://schemas.microsoft.com/office/drawing/2014/main" id="{021E6F87-29A0-9A03-F9BC-45A0AA0A119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246" y="2438400"/>
            <a:ext cx="912308" cy="1803400"/>
          </a:xfrm>
          <a:prstGeom prst="rect">
            <a:avLst/>
          </a:prstGeom>
        </p:spPr>
      </p:pic>
      <p:sp>
        <p:nvSpPr>
          <p:cNvPr id="10" name="text">
            <a:extLst>
              <a:ext uri="{FF2B5EF4-FFF2-40B4-BE49-F238E27FC236}">
                <a16:creationId xmlns:a16="http://schemas.microsoft.com/office/drawing/2014/main" id="{1860A1FA-91A4-369D-6946-6D356DD6AE3A}"/>
              </a:ext>
            </a:extLst>
          </p:cNvPr>
          <p:cNvSpPr txBox="1"/>
          <p:nvPr/>
        </p:nvSpPr>
        <p:spPr>
          <a:xfrm>
            <a:off x="711200" y="44450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Guest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2041B4D-3C50-E69B-B0DF-0F70D5358AE0}"/>
              </a:ext>
            </a:extLst>
          </p:cNvPr>
          <p:cNvSpPr txBox="1"/>
          <p:nvPr/>
        </p:nvSpPr>
        <p:spPr>
          <a:xfrm>
            <a:off x="711200" y="4876800"/>
            <a:ext cx="16764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Discover care, ask the assistant, and submit a verified request</a:t>
            </a:r>
          </a:p>
        </p:txBody>
      </p:sp>
      <p:sp>
        <p:nvSpPr>
          <p:cNvPr id="12" name="box">
            <a:extLst>
              <a:ext uri="{FF2B5EF4-FFF2-40B4-BE49-F238E27FC236}">
                <a16:creationId xmlns:a16="http://schemas.microsoft.com/office/drawing/2014/main" id="{35FABE23-4C07-ABB6-F1C1-2ADF1ECB7429}"/>
              </a:ext>
            </a:extLst>
          </p:cNvPr>
          <p:cNvSpPr/>
          <p:nvPr/>
        </p:nvSpPr>
        <p:spPr>
          <a:xfrm>
            <a:off x="2768600" y="2260600"/>
            <a:ext cx="2032000" cy="34290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age">
            <a:extLst>
              <a:ext uri="{FF2B5EF4-FFF2-40B4-BE49-F238E27FC236}">
                <a16:creationId xmlns:a16="http://schemas.microsoft.com/office/drawing/2014/main" id="{DD503D03-3401-8B4C-AC39-64919285F31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446" y="2438400"/>
            <a:ext cx="912308" cy="1803400"/>
          </a:xfrm>
          <a:prstGeom prst="rect">
            <a:avLst/>
          </a:prstGeom>
        </p:spPr>
      </p:pic>
      <p:sp>
        <p:nvSpPr>
          <p:cNvPr id="15" name="text">
            <a:extLst>
              <a:ext uri="{FF2B5EF4-FFF2-40B4-BE49-F238E27FC236}">
                <a16:creationId xmlns:a16="http://schemas.microsoft.com/office/drawing/2014/main" id="{C38DC134-DB62-04BA-AE9D-DA317FAECD1A}"/>
              </a:ext>
            </a:extLst>
          </p:cNvPr>
          <p:cNvSpPr txBox="1"/>
          <p:nvPr/>
        </p:nvSpPr>
        <p:spPr>
          <a:xfrm>
            <a:off x="2946400" y="44450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Patient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E94EDC6-7DB3-D367-6E94-6E6AEC522CAC}"/>
              </a:ext>
            </a:extLst>
          </p:cNvPr>
          <p:cNvSpPr txBox="1"/>
          <p:nvPr/>
        </p:nvSpPr>
        <p:spPr>
          <a:xfrm>
            <a:off x="2946400" y="4876800"/>
            <a:ext cx="16764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Book care, communicate, and manage records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54519DFE-5072-E47B-8413-E79DEEE5DB69}"/>
              </a:ext>
            </a:extLst>
          </p:cNvPr>
          <p:cNvSpPr/>
          <p:nvPr/>
        </p:nvSpPr>
        <p:spPr>
          <a:xfrm>
            <a:off x="5003800" y="2260600"/>
            <a:ext cx="2032000" cy="34290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image">
            <a:extLst>
              <a:ext uri="{FF2B5EF4-FFF2-40B4-BE49-F238E27FC236}">
                <a16:creationId xmlns:a16="http://schemas.microsoft.com/office/drawing/2014/main" id="{6BD6AB75-77E5-4968-B098-664A4D93004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646" y="2438400"/>
            <a:ext cx="912308" cy="1803400"/>
          </a:xfrm>
          <a:prstGeom prst="rect">
            <a:avLst/>
          </a:prstGeom>
        </p:spPr>
      </p:pic>
      <p:sp>
        <p:nvSpPr>
          <p:cNvPr id="20" name="text">
            <a:extLst>
              <a:ext uri="{FF2B5EF4-FFF2-40B4-BE49-F238E27FC236}">
                <a16:creationId xmlns:a16="http://schemas.microsoft.com/office/drawing/2014/main" id="{6B142163-713D-87CE-3B55-BB7854B32564}"/>
              </a:ext>
            </a:extLst>
          </p:cNvPr>
          <p:cNvSpPr txBox="1"/>
          <p:nvPr/>
        </p:nvSpPr>
        <p:spPr>
          <a:xfrm>
            <a:off x="5181600" y="44450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Doctor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D59E9CDF-DEC4-AB28-2C2B-869BE2A94DD0}"/>
              </a:ext>
            </a:extLst>
          </p:cNvPr>
          <p:cNvSpPr txBox="1"/>
          <p:nvPr/>
        </p:nvSpPr>
        <p:spPr>
          <a:xfrm>
            <a:off x="5181600" y="4876800"/>
            <a:ext cx="16764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Manage schedules, consultations, prescriptions, and labs</a:t>
            </a:r>
          </a:p>
        </p:txBody>
      </p:sp>
      <p:sp>
        <p:nvSpPr>
          <p:cNvPr id="22" name="box">
            <a:extLst>
              <a:ext uri="{FF2B5EF4-FFF2-40B4-BE49-F238E27FC236}">
                <a16:creationId xmlns:a16="http://schemas.microsoft.com/office/drawing/2014/main" id="{B6EF3236-2DC3-657A-4B7B-192C420BD103}"/>
              </a:ext>
            </a:extLst>
          </p:cNvPr>
          <p:cNvSpPr/>
          <p:nvPr/>
        </p:nvSpPr>
        <p:spPr>
          <a:xfrm>
            <a:off x="7239000" y="2260600"/>
            <a:ext cx="2032000" cy="34290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">
            <a:extLst>
              <a:ext uri="{FF2B5EF4-FFF2-40B4-BE49-F238E27FC236}">
                <a16:creationId xmlns:a16="http://schemas.microsoft.com/office/drawing/2014/main" id="{1AD4ADF2-7B98-0DA2-6793-B0A66FA2478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8846" y="2438400"/>
            <a:ext cx="912308" cy="1803400"/>
          </a:xfrm>
          <a:prstGeom prst="rect">
            <a:avLst/>
          </a:prstGeom>
        </p:spPr>
      </p:pic>
      <p:sp>
        <p:nvSpPr>
          <p:cNvPr id="25" name="text">
            <a:extLst>
              <a:ext uri="{FF2B5EF4-FFF2-40B4-BE49-F238E27FC236}">
                <a16:creationId xmlns:a16="http://schemas.microsoft.com/office/drawing/2014/main" id="{66DB26CF-0262-CE33-362C-5DAC837A55C3}"/>
              </a:ext>
            </a:extLst>
          </p:cNvPr>
          <p:cNvSpPr txBox="1"/>
          <p:nvPr/>
        </p:nvSpPr>
        <p:spPr>
          <a:xfrm>
            <a:off x="7416800" y="44450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Hospital admin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467F0FED-5761-BC02-A6DC-B08591D88705}"/>
              </a:ext>
            </a:extLst>
          </p:cNvPr>
          <p:cNvSpPr txBox="1"/>
          <p:nvPr/>
        </p:nvSpPr>
        <p:spPr>
          <a:xfrm>
            <a:off x="7416800" y="4876800"/>
            <a:ext cx="16764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Operate one hospital, staff, services, and capacity</a:t>
            </a:r>
          </a:p>
        </p:txBody>
      </p:sp>
      <p:sp>
        <p:nvSpPr>
          <p:cNvPr id="27" name="box">
            <a:extLst>
              <a:ext uri="{FF2B5EF4-FFF2-40B4-BE49-F238E27FC236}">
                <a16:creationId xmlns:a16="http://schemas.microsoft.com/office/drawing/2014/main" id="{3D440DBF-5868-0CC4-4485-7A50B57DDD1E}"/>
              </a:ext>
            </a:extLst>
          </p:cNvPr>
          <p:cNvSpPr/>
          <p:nvPr/>
        </p:nvSpPr>
        <p:spPr>
          <a:xfrm>
            <a:off x="9474200" y="2260600"/>
            <a:ext cx="2032000" cy="34290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age">
            <a:extLst>
              <a:ext uri="{FF2B5EF4-FFF2-40B4-BE49-F238E27FC236}">
                <a16:creationId xmlns:a16="http://schemas.microsoft.com/office/drawing/2014/main" id="{653F98CC-D023-8DBF-65B4-63B3406A08B7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046" y="2438400"/>
            <a:ext cx="912308" cy="1803400"/>
          </a:xfrm>
          <a:prstGeom prst="rect">
            <a:avLst/>
          </a:prstGeom>
        </p:spPr>
      </p:pic>
      <p:sp>
        <p:nvSpPr>
          <p:cNvPr id="30" name="text">
            <a:extLst>
              <a:ext uri="{FF2B5EF4-FFF2-40B4-BE49-F238E27FC236}">
                <a16:creationId xmlns:a16="http://schemas.microsoft.com/office/drawing/2014/main" id="{7D5FCF5F-A5E1-51CA-6630-1BC583517868}"/>
              </a:ext>
            </a:extLst>
          </p:cNvPr>
          <p:cNvSpPr txBox="1"/>
          <p:nvPr/>
        </p:nvSpPr>
        <p:spPr>
          <a:xfrm>
            <a:off x="9652000" y="4445000"/>
            <a:ext cx="167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Super admin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B43D5C8C-B048-C56C-25B9-A57310C4EA5C}"/>
              </a:ext>
            </a:extLst>
          </p:cNvPr>
          <p:cNvSpPr txBox="1"/>
          <p:nvPr/>
        </p:nvSpPr>
        <p:spPr>
          <a:xfrm>
            <a:off x="9652000" y="4876800"/>
            <a:ext cx="1676400" cy="16619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Govern hospitals, accounts, settings, analytics, and audits</a:t>
            </a:r>
          </a:p>
        </p:txBody>
      </p:sp>
    </p:spTree>
    <p:extLst>
      <p:ext uri="{BB962C8B-B14F-4D97-AF65-F5344CB8AC3E}">
        <p14:creationId xmlns:p14="http://schemas.microsoft.com/office/powerpoint/2010/main" val="2342257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2E45829B-F77C-6903-EB68-59751A8705E3}"/>
              </a:ext>
            </a:extLst>
          </p:cNvPr>
          <p:cNvSpPr txBox="1"/>
          <p:nvPr/>
        </p:nvSpPr>
        <p:spPr>
          <a:xfrm>
            <a:off x="533400" y="304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008B8B"/>
                </a:solidFill>
                <a:latin typeface="Aptos" panose="020B0004020202020204" pitchFamily="34" charset="0"/>
              </a:rPr>
              <a:t>SYSTEM DEFENSE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AF651E14-729C-387E-86C6-876BA282471B}"/>
              </a:ext>
            </a:extLst>
          </p:cNvPr>
          <p:cNvSpPr txBox="1"/>
          <p:nvPr/>
        </p:nvSpPr>
        <p:spPr>
          <a:xfrm>
            <a:off x="533400" y="6096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Six objectives make care accountable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27CE9ED-1B78-F95B-7EA5-6FE5003C6DF0}"/>
              </a:ext>
            </a:extLst>
          </p:cNvPr>
          <p:cNvCxnSpPr/>
          <p:nvPr/>
        </p:nvCxnSpPr>
        <p:spPr>
          <a:xfrm>
            <a:off x="533400" y="1358900"/>
            <a:ext cx="111252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number">
            <a:extLst>
              <a:ext uri="{FF2B5EF4-FFF2-40B4-BE49-F238E27FC236}">
                <a16:creationId xmlns:a16="http://schemas.microsoft.com/office/drawing/2014/main" id="{2B41106F-8704-D947-E84A-7CCBE48D3CC4}"/>
              </a:ext>
            </a:extLst>
          </p:cNvPr>
          <p:cNvSpPr txBox="1"/>
          <p:nvPr/>
        </p:nvSpPr>
        <p:spPr>
          <a:xfrm>
            <a:off x="11430000" y="64770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900">
                <a:solidFill>
                  <a:srgbClr val="5B7080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" name="general-objective">
            <a:extLst>
              <a:ext uri="{FF2B5EF4-FFF2-40B4-BE49-F238E27FC236}">
                <a16:creationId xmlns:a16="http://schemas.microsoft.com/office/drawing/2014/main" id="{6941C79E-17DF-8D4B-1CF6-79696F4BE9BC}"/>
              </a:ext>
            </a:extLst>
          </p:cNvPr>
          <p:cNvSpPr/>
          <p:nvPr/>
        </p:nvSpPr>
        <p:spPr>
          <a:xfrm>
            <a:off x="533400" y="1676400"/>
            <a:ext cx="11125200" cy="1066800"/>
          </a:xfrm>
          <a:prstGeom prst="roundRect">
            <a:avLst/>
          </a:prstGeom>
          <a:solidFill>
            <a:srgbClr val="E4F7F4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B932064-9652-2D12-12C2-9315652A59A1}"/>
              </a:ext>
            </a:extLst>
          </p:cNvPr>
          <p:cNvSpPr txBox="1"/>
          <p:nvPr/>
        </p:nvSpPr>
        <p:spPr>
          <a:xfrm>
            <a:off x="838200" y="1930400"/>
            <a:ext cx="234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008B8B"/>
                </a:solidFill>
                <a:latin typeface="Aptos" panose="020B0004020202020204" pitchFamily="34" charset="0"/>
              </a:rPr>
              <a:t>GENERAL OBJECTIVE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0361874-FE97-E3E8-9881-B589210793CC}"/>
              </a:ext>
            </a:extLst>
          </p:cNvPr>
          <p:cNvSpPr txBox="1"/>
          <p:nvPr/>
        </p:nvSpPr>
        <p:spPr>
          <a:xfrm>
            <a:off x="838200" y="2260600"/>
            <a:ext cx="10464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Design and implement a secure, responsive platform that helps people find appropriate care and supports the care lifecycle across authorized users.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ECE03B8-C4BC-C8F4-C05C-A002699E3A02}"/>
              </a:ext>
            </a:extLst>
          </p:cNvPr>
          <p:cNvSpPr txBox="1"/>
          <p:nvPr/>
        </p:nvSpPr>
        <p:spPr>
          <a:xfrm>
            <a:off x="533400" y="3073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08B8B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C01B305-E9FA-1A9B-E5EB-F9266CA6F9D6}"/>
              </a:ext>
            </a:extLst>
          </p:cNvPr>
          <p:cNvSpPr txBox="1"/>
          <p:nvPr/>
        </p:nvSpPr>
        <p:spPr>
          <a:xfrm>
            <a:off x="1016000" y="30734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Make care discoverable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8EF880B-8870-F635-5A9B-41D19D2D6454}"/>
              </a:ext>
            </a:extLst>
          </p:cNvPr>
          <p:cNvSpPr txBox="1"/>
          <p:nvPr/>
        </p:nvSpPr>
        <p:spPr>
          <a:xfrm>
            <a:off x="1016000" y="3479800"/>
            <a:ext cx="27686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B7080"/>
                </a:solidFill>
                <a:latin typeface="Aptos" panose="020B0004020202020204" pitchFamily="34" charset="0"/>
              </a:rPr>
              <a:t>Publish verified hospitals, services, clinicians, schedules, routes, and availability.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FCB1185-4A6E-1BCA-1E07-B3012CCEBBDC}"/>
              </a:ext>
            </a:extLst>
          </p:cNvPr>
          <p:cNvSpPr txBox="1"/>
          <p:nvPr/>
        </p:nvSpPr>
        <p:spPr>
          <a:xfrm>
            <a:off x="4292600" y="3073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08B8B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20A5C840-34E2-23EE-94C9-C67F7C313893}"/>
              </a:ext>
            </a:extLst>
          </p:cNvPr>
          <p:cNvSpPr txBox="1"/>
          <p:nvPr/>
        </p:nvSpPr>
        <p:spPr>
          <a:xfrm>
            <a:off x="4775200" y="30734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Guide safely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E58C3B3-7328-41C9-3041-A39E1337D3F7}"/>
              </a:ext>
            </a:extLst>
          </p:cNvPr>
          <p:cNvSpPr txBox="1"/>
          <p:nvPr/>
        </p:nvSpPr>
        <p:spPr>
          <a:xfrm>
            <a:off x="4775200" y="3479800"/>
            <a:ext cx="27686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B7080"/>
                </a:solidFill>
                <a:latin typeface="Aptos" panose="020B0004020202020204" pitchFamily="34" charset="0"/>
              </a:rPr>
              <a:t>Use deterministic emergency checks and preliminary AI guidance without replacing diagnosis.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47B12C1-CD9B-8111-8712-F99C04F9CDAC}"/>
              </a:ext>
            </a:extLst>
          </p:cNvPr>
          <p:cNvSpPr txBox="1"/>
          <p:nvPr/>
        </p:nvSpPr>
        <p:spPr>
          <a:xfrm>
            <a:off x="8051800" y="3073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08B8B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5F9AA13-1A18-3CAA-DAD1-4A44C3370052}"/>
              </a:ext>
            </a:extLst>
          </p:cNvPr>
          <p:cNvSpPr txBox="1"/>
          <p:nvPr/>
        </p:nvSpPr>
        <p:spPr>
          <a:xfrm>
            <a:off x="8534400" y="30734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Connect the journey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DF5F941-53E3-D7DF-BDBB-DE9B78333B51}"/>
              </a:ext>
            </a:extLst>
          </p:cNvPr>
          <p:cNvSpPr txBox="1"/>
          <p:nvPr/>
        </p:nvSpPr>
        <p:spPr>
          <a:xfrm>
            <a:off x="8534400" y="3479800"/>
            <a:ext cx="27686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B7080"/>
                </a:solidFill>
                <a:latin typeface="Aptos" panose="020B0004020202020204" pitchFamily="34" charset="0"/>
              </a:rPr>
              <a:t>Link guest intake, booking, consultation, communication, documents, and follow-up.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D0796ED-2F41-A585-8A3F-5F554D6000F7}"/>
              </a:ext>
            </a:extLst>
          </p:cNvPr>
          <p:cNvSpPr txBox="1"/>
          <p:nvPr/>
        </p:nvSpPr>
        <p:spPr>
          <a:xfrm>
            <a:off x="533400" y="46228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08B8B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7D5B697E-4FBA-AD2A-BD51-D2984A7F628E}"/>
              </a:ext>
            </a:extLst>
          </p:cNvPr>
          <p:cNvSpPr txBox="1"/>
          <p:nvPr/>
        </p:nvSpPr>
        <p:spPr>
          <a:xfrm>
            <a:off x="1016000" y="46228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Enable role-based work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C6E9437E-FE41-8F24-D439-B65D38541E16}"/>
              </a:ext>
            </a:extLst>
          </p:cNvPr>
          <p:cNvSpPr txBox="1"/>
          <p:nvPr/>
        </p:nvSpPr>
        <p:spPr>
          <a:xfrm>
            <a:off x="1016000" y="5029200"/>
            <a:ext cx="27686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B7080"/>
                </a:solidFill>
                <a:latin typeface="Aptos" panose="020B0004020202020204" pitchFamily="34" charset="0"/>
              </a:rPr>
              <a:t>Provide patient, doctor, hospital-administrator, and platform-governance workspaces.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8534D0C9-B9EC-E5D4-91E9-C59BFB202D33}"/>
              </a:ext>
            </a:extLst>
          </p:cNvPr>
          <p:cNvSpPr txBox="1"/>
          <p:nvPr/>
        </p:nvSpPr>
        <p:spPr>
          <a:xfrm>
            <a:off x="4292600" y="46228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08B8B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2183EF42-7E45-4D7B-D93C-97A781EE2854}"/>
              </a:ext>
            </a:extLst>
          </p:cNvPr>
          <p:cNvSpPr txBox="1"/>
          <p:nvPr/>
        </p:nvSpPr>
        <p:spPr>
          <a:xfrm>
            <a:off x="4775200" y="46228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Protect clinical data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66F03248-608F-1DD0-0369-EEF10D1A8993}"/>
              </a:ext>
            </a:extLst>
          </p:cNvPr>
          <p:cNvSpPr txBox="1"/>
          <p:nvPr/>
        </p:nvSpPr>
        <p:spPr>
          <a:xfrm>
            <a:off x="4775200" y="5029200"/>
            <a:ext cx="27686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B7080"/>
                </a:solidFill>
                <a:latin typeface="Aptos" panose="020B0004020202020204" pitchFamily="34" charset="0"/>
              </a:rPr>
              <a:t>Enforce authorization with JWTs, RLS, private storage, constraints, triggers, and audit logs.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D6B60BA8-68E3-131A-C5E9-EBA7CCC544A0}"/>
              </a:ext>
            </a:extLst>
          </p:cNvPr>
          <p:cNvSpPr txBox="1"/>
          <p:nvPr/>
        </p:nvSpPr>
        <p:spPr>
          <a:xfrm>
            <a:off x="8051800" y="46228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08B8B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55C6D7E5-EE15-84DD-80CB-C1A790B1C25B}"/>
              </a:ext>
            </a:extLst>
          </p:cNvPr>
          <p:cNvSpPr txBox="1"/>
          <p:nvPr/>
        </p:nvSpPr>
        <p:spPr>
          <a:xfrm>
            <a:off x="8534400" y="46228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Verify quality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590CBCF3-18FA-214D-FA00-0064BA03C325}"/>
              </a:ext>
            </a:extLst>
          </p:cNvPr>
          <p:cNvSpPr txBox="1"/>
          <p:nvPr/>
        </p:nvSpPr>
        <p:spPr>
          <a:xfrm>
            <a:off x="8534400" y="5029200"/>
            <a:ext cx="27686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B7080"/>
                </a:solidFill>
                <a:latin typeface="Aptos" panose="020B0004020202020204" pitchFamily="34" charset="0"/>
              </a:rPr>
              <a:t>Use analysis, unit/widget tests, SQL acceptance tests, build checks, and visual baselines.</a:t>
            </a:r>
          </a:p>
        </p:txBody>
      </p:sp>
    </p:spTree>
    <p:extLst>
      <p:ext uri="{BB962C8B-B14F-4D97-AF65-F5344CB8AC3E}">
        <p14:creationId xmlns:p14="http://schemas.microsoft.com/office/powerpoint/2010/main" val="3313982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B871B18B-EFC1-8AA9-792E-5895AD2AC672}"/>
              </a:ext>
            </a:extLst>
          </p:cNvPr>
          <p:cNvSpPr txBox="1"/>
          <p:nvPr/>
        </p:nvSpPr>
        <p:spPr>
          <a:xfrm>
            <a:off x="533400" y="304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008B8B"/>
                </a:solidFill>
                <a:latin typeface="Aptos" panose="020B0004020202020204" pitchFamily="34" charset="0"/>
              </a:rPr>
              <a:t>SYSTEM DEFENSE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0A6C0463-52C1-F35D-863B-962939E14306}"/>
              </a:ext>
            </a:extLst>
          </p:cNvPr>
          <p:cNvSpPr txBox="1"/>
          <p:nvPr/>
        </p:nvSpPr>
        <p:spPr>
          <a:xfrm>
            <a:off x="533400" y="6096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The workflow preserves continuity from discovery to follow-up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090831-EF67-B4F4-6336-46791BB31D7C}"/>
              </a:ext>
            </a:extLst>
          </p:cNvPr>
          <p:cNvCxnSpPr/>
          <p:nvPr/>
        </p:nvCxnSpPr>
        <p:spPr>
          <a:xfrm>
            <a:off x="533400" y="1358900"/>
            <a:ext cx="111252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number">
            <a:extLst>
              <a:ext uri="{FF2B5EF4-FFF2-40B4-BE49-F238E27FC236}">
                <a16:creationId xmlns:a16="http://schemas.microsoft.com/office/drawing/2014/main" id="{53A896A2-938E-2278-49A9-8A0BF037763B}"/>
              </a:ext>
            </a:extLst>
          </p:cNvPr>
          <p:cNvSpPr txBox="1"/>
          <p:nvPr/>
        </p:nvSpPr>
        <p:spPr>
          <a:xfrm>
            <a:off x="11430000" y="64770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900">
                <a:solidFill>
                  <a:srgbClr val="5B7080"/>
                </a:solidFill>
                <a:latin typeface="Aptos" panose="020B0004020202020204" pitchFamily="34" charset="0"/>
              </a:rPr>
              <a:t>5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9CB102-4115-051E-5C33-BEFABE3DA2B8}"/>
              </a:ext>
            </a:extLst>
          </p:cNvPr>
          <p:cNvCxnSpPr/>
          <p:nvPr/>
        </p:nvCxnSpPr>
        <p:spPr>
          <a:xfrm>
            <a:off x="2209800" y="2794000"/>
            <a:ext cx="203200" cy="0"/>
          </a:xfrm>
          <a:prstGeom prst="straightConnector1">
            <a:avLst/>
          </a:prstGeom>
          <a:ln w="2540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E65FC9-316F-014D-7F73-88CCFDD82058}"/>
              </a:ext>
            </a:extLst>
          </p:cNvPr>
          <p:cNvCxnSpPr/>
          <p:nvPr/>
        </p:nvCxnSpPr>
        <p:spPr>
          <a:xfrm>
            <a:off x="4089400" y="2794000"/>
            <a:ext cx="203200" cy="0"/>
          </a:xfrm>
          <a:prstGeom prst="straightConnector1">
            <a:avLst/>
          </a:prstGeom>
          <a:ln w="2540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F44498-2ECB-E3E2-03E3-727F6E777C3A}"/>
              </a:ext>
            </a:extLst>
          </p:cNvPr>
          <p:cNvCxnSpPr/>
          <p:nvPr/>
        </p:nvCxnSpPr>
        <p:spPr>
          <a:xfrm>
            <a:off x="5969000" y="2794000"/>
            <a:ext cx="203200" cy="0"/>
          </a:xfrm>
          <a:prstGeom prst="straightConnector1">
            <a:avLst/>
          </a:prstGeom>
          <a:ln w="2540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D55518-F55A-1158-A844-2AD7CFF6BED1}"/>
              </a:ext>
            </a:extLst>
          </p:cNvPr>
          <p:cNvCxnSpPr/>
          <p:nvPr/>
        </p:nvCxnSpPr>
        <p:spPr>
          <a:xfrm>
            <a:off x="7848600" y="2794000"/>
            <a:ext cx="203200" cy="0"/>
          </a:xfrm>
          <a:prstGeom prst="straightConnector1">
            <a:avLst/>
          </a:prstGeom>
          <a:ln w="2540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81F402-4EC1-29FC-7777-F408C0D9DAC9}"/>
              </a:ext>
            </a:extLst>
          </p:cNvPr>
          <p:cNvCxnSpPr/>
          <p:nvPr/>
        </p:nvCxnSpPr>
        <p:spPr>
          <a:xfrm>
            <a:off x="9728200" y="2794000"/>
            <a:ext cx="203200" cy="0"/>
          </a:xfrm>
          <a:prstGeom prst="straightConnector1">
            <a:avLst/>
          </a:prstGeom>
          <a:ln w="2540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ox">
            <a:extLst>
              <a:ext uri="{FF2B5EF4-FFF2-40B4-BE49-F238E27FC236}">
                <a16:creationId xmlns:a16="http://schemas.microsoft.com/office/drawing/2014/main" id="{1BBC9A12-F7F1-2E0D-C751-E172C22BC152}"/>
              </a:ext>
            </a:extLst>
          </p:cNvPr>
          <p:cNvSpPr/>
          <p:nvPr/>
        </p:nvSpPr>
        <p:spPr>
          <a:xfrm>
            <a:off x="533400" y="2209800"/>
            <a:ext cx="16764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62BCF5E-F14C-4979-906A-03BD099B4507}"/>
              </a:ext>
            </a:extLst>
          </p:cNvPr>
          <p:cNvSpPr txBox="1"/>
          <p:nvPr/>
        </p:nvSpPr>
        <p:spPr>
          <a:xfrm>
            <a:off x="685800" y="23876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Discover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C32F94B6-F594-05E5-D21E-8213DBCD32E0}"/>
              </a:ext>
            </a:extLst>
          </p:cNvPr>
          <p:cNvSpPr txBox="1"/>
          <p:nvPr/>
        </p:nvSpPr>
        <p:spPr>
          <a:xfrm>
            <a:off x="660400" y="2781300"/>
            <a:ext cx="14224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5B7080"/>
                </a:solidFill>
                <a:latin typeface="Aptos" panose="020B0004020202020204" pitchFamily="34" charset="0"/>
              </a:rPr>
              <a:t>Hospitals, clinicians, services, availability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4DEAFCFE-2E92-32CD-E804-07B14C54B083}"/>
              </a:ext>
            </a:extLst>
          </p:cNvPr>
          <p:cNvSpPr/>
          <p:nvPr/>
        </p:nvSpPr>
        <p:spPr>
          <a:xfrm>
            <a:off x="2413000" y="2209800"/>
            <a:ext cx="16764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28EC31D-2EB4-5EB7-BE45-AF86D2C9113C}"/>
              </a:ext>
            </a:extLst>
          </p:cNvPr>
          <p:cNvSpPr txBox="1"/>
          <p:nvPr/>
        </p:nvSpPr>
        <p:spPr>
          <a:xfrm>
            <a:off x="2565400" y="23876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Guide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709B14E-0C90-4680-AEF0-9B44EDAABF4C}"/>
              </a:ext>
            </a:extLst>
          </p:cNvPr>
          <p:cNvSpPr txBox="1"/>
          <p:nvPr/>
        </p:nvSpPr>
        <p:spPr>
          <a:xfrm>
            <a:off x="2540000" y="2781300"/>
            <a:ext cx="14224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5B7080"/>
                </a:solidFill>
                <a:latin typeface="Aptos" panose="020B0004020202020204" pitchFamily="34" charset="0"/>
              </a:rPr>
              <a:t>Assistant triage and emergency escalation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599B7AC8-74DB-ABF0-AC41-81BC81655DAA}"/>
              </a:ext>
            </a:extLst>
          </p:cNvPr>
          <p:cNvSpPr/>
          <p:nvPr/>
        </p:nvSpPr>
        <p:spPr>
          <a:xfrm>
            <a:off x="4292600" y="2209800"/>
            <a:ext cx="16764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75206D5-CF5B-C3C3-3591-47EB18184FAA}"/>
              </a:ext>
            </a:extLst>
          </p:cNvPr>
          <p:cNvSpPr txBox="1"/>
          <p:nvPr/>
        </p:nvSpPr>
        <p:spPr>
          <a:xfrm>
            <a:off x="4445000" y="23876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Request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90AF5743-358F-CAED-3054-E756611D402E}"/>
              </a:ext>
            </a:extLst>
          </p:cNvPr>
          <p:cNvSpPr txBox="1"/>
          <p:nvPr/>
        </p:nvSpPr>
        <p:spPr>
          <a:xfrm>
            <a:off x="4419600" y="2781300"/>
            <a:ext cx="14224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5B7080"/>
                </a:solidFill>
                <a:latin typeface="Aptos" panose="020B0004020202020204" pitchFamily="34" charset="0"/>
              </a:rPr>
              <a:t>Guest verification or patient booking</a:t>
            </a: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94C6CF03-96A6-BFA0-DAFC-3271C5950014}"/>
              </a:ext>
            </a:extLst>
          </p:cNvPr>
          <p:cNvSpPr/>
          <p:nvPr/>
        </p:nvSpPr>
        <p:spPr>
          <a:xfrm>
            <a:off x="6172200" y="2209800"/>
            <a:ext cx="16764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366FA243-9AF9-CCCE-4CB8-9615E75E4621}"/>
              </a:ext>
            </a:extLst>
          </p:cNvPr>
          <p:cNvSpPr txBox="1"/>
          <p:nvPr/>
        </p:nvSpPr>
        <p:spPr>
          <a:xfrm>
            <a:off x="6324600" y="23876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Consult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FB56DE23-F51F-FE78-D328-945BD7F848CE}"/>
              </a:ext>
            </a:extLst>
          </p:cNvPr>
          <p:cNvSpPr txBox="1"/>
          <p:nvPr/>
        </p:nvSpPr>
        <p:spPr>
          <a:xfrm>
            <a:off x="6299200" y="2781300"/>
            <a:ext cx="14224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5B7080"/>
                </a:solidFill>
                <a:latin typeface="Aptos" panose="020B0004020202020204" pitchFamily="34" charset="0"/>
              </a:rPr>
              <a:t>In person, email-assisted, or video</a:t>
            </a:r>
          </a:p>
        </p:txBody>
      </p:sp>
      <p:sp>
        <p:nvSpPr>
          <p:cNvPr id="23" name="box">
            <a:extLst>
              <a:ext uri="{FF2B5EF4-FFF2-40B4-BE49-F238E27FC236}">
                <a16:creationId xmlns:a16="http://schemas.microsoft.com/office/drawing/2014/main" id="{388C93CD-C6E9-1194-EFA9-60C161BD3BBE}"/>
              </a:ext>
            </a:extLst>
          </p:cNvPr>
          <p:cNvSpPr/>
          <p:nvPr/>
        </p:nvSpPr>
        <p:spPr>
          <a:xfrm>
            <a:off x="8051800" y="2209800"/>
            <a:ext cx="16764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64C3FAF7-EA64-4ED9-6263-68A18E5AB564}"/>
              </a:ext>
            </a:extLst>
          </p:cNvPr>
          <p:cNvSpPr txBox="1"/>
          <p:nvPr/>
        </p:nvSpPr>
        <p:spPr>
          <a:xfrm>
            <a:off x="8204200" y="23876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Document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10211F6D-BB7E-BDCA-85CB-7D690B9450BA}"/>
              </a:ext>
            </a:extLst>
          </p:cNvPr>
          <p:cNvSpPr txBox="1"/>
          <p:nvPr/>
        </p:nvSpPr>
        <p:spPr>
          <a:xfrm>
            <a:off x="8178800" y="2781300"/>
            <a:ext cx="14224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5B7080"/>
                </a:solidFill>
                <a:latin typeface="Aptos" panose="020B0004020202020204" pitchFamily="34" charset="0"/>
              </a:rPr>
              <a:t>Checkup, prescription, and laboratory data</a:t>
            </a:r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97B2722F-39DE-5B34-D59E-092780C7FD12}"/>
              </a:ext>
            </a:extLst>
          </p:cNvPr>
          <p:cNvSpPr/>
          <p:nvPr/>
        </p:nvSpPr>
        <p:spPr>
          <a:xfrm>
            <a:off x="9931400" y="2209800"/>
            <a:ext cx="17272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B08C9C21-B1CA-4A7F-5357-2BF07EAC2A02}"/>
              </a:ext>
            </a:extLst>
          </p:cNvPr>
          <p:cNvSpPr txBox="1"/>
          <p:nvPr/>
        </p:nvSpPr>
        <p:spPr>
          <a:xfrm>
            <a:off x="10083800" y="23876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Follow up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D50B90A5-EB0A-E9C0-F9DF-DA057A9343FE}"/>
              </a:ext>
            </a:extLst>
          </p:cNvPr>
          <p:cNvSpPr txBox="1"/>
          <p:nvPr/>
        </p:nvSpPr>
        <p:spPr>
          <a:xfrm>
            <a:off x="10058400" y="2781300"/>
            <a:ext cx="14732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5B7080"/>
                </a:solidFill>
                <a:latin typeface="Aptos" panose="020B0004020202020204" pitchFamily="34" charset="0"/>
              </a:rPr>
              <a:t>Private files, messages, and reminders</a:t>
            </a:r>
          </a:p>
        </p:txBody>
      </p:sp>
      <p:sp>
        <p:nvSpPr>
          <p:cNvPr id="29" name="box">
            <a:extLst>
              <a:ext uri="{FF2B5EF4-FFF2-40B4-BE49-F238E27FC236}">
                <a16:creationId xmlns:a16="http://schemas.microsoft.com/office/drawing/2014/main" id="{E03D9D52-4835-4394-262A-D1A5432C25C9}"/>
              </a:ext>
            </a:extLst>
          </p:cNvPr>
          <p:cNvSpPr/>
          <p:nvPr/>
        </p:nvSpPr>
        <p:spPr>
          <a:xfrm>
            <a:off x="2413000" y="4064000"/>
            <a:ext cx="7366000" cy="1295400"/>
          </a:xfrm>
          <a:prstGeom prst="round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92F3594C-8ACC-7891-7D88-01B24850785A}"/>
              </a:ext>
            </a:extLst>
          </p:cNvPr>
          <p:cNvSpPr txBox="1"/>
          <p:nvPr/>
        </p:nvSpPr>
        <p:spPr>
          <a:xfrm>
            <a:off x="2794000" y="43688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Authorization and safety remain continuous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ADC47433-4F62-EF70-2A02-7278A2F7588D}"/>
              </a:ext>
            </a:extLst>
          </p:cNvPr>
          <p:cNvSpPr txBox="1"/>
          <p:nvPr/>
        </p:nvSpPr>
        <p:spPr>
          <a:xfrm>
            <a:off x="2895600" y="4800600"/>
            <a:ext cx="64008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>
                <a:solidFill>
                  <a:srgbClr val="EDF2F5"/>
                </a:solidFill>
                <a:latin typeface="Aptos" panose="020B0004020202020204" pitchFamily="34" charset="0"/>
              </a:rPr>
              <a:t>Role guards in the client; RLS, constraints, and server-side checks in the backend; preliminary AI always separated from official clinical decisions.</a:t>
            </a:r>
          </a:p>
        </p:txBody>
      </p:sp>
    </p:spTree>
    <p:extLst>
      <p:ext uri="{BB962C8B-B14F-4D97-AF65-F5344CB8AC3E}">
        <p14:creationId xmlns:p14="http://schemas.microsoft.com/office/powerpoint/2010/main" val="2900760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D4F28061-8A86-2C0D-FAFB-9C000D43BB0F}"/>
              </a:ext>
            </a:extLst>
          </p:cNvPr>
          <p:cNvSpPr txBox="1"/>
          <p:nvPr/>
        </p:nvSpPr>
        <p:spPr>
          <a:xfrm>
            <a:off x="533400" y="304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008B8B"/>
                </a:solidFill>
                <a:latin typeface="Aptos" panose="020B0004020202020204" pitchFamily="34" charset="0"/>
              </a:rPr>
              <a:t>SYSTEM DEFENSE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F80D431C-A4DD-A894-654F-B96689756B86}"/>
              </a:ext>
            </a:extLst>
          </p:cNvPr>
          <p:cNvSpPr txBox="1"/>
          <p:nvPr/>
        </p:nvSpPr>
        <p:spPr>
          <a:xfrm>
            <a:off x="533400" y="6096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Scope is broad; production boundaries are explicit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2A668B-23E8-45FD-F3A5-FA9E235719CB}"/>
              </a:ext>
            </a:extLst>
          </p:cNvPr>
          <p:cNvCxnSpPr/>
          <p:nvPr/>
        </p:nvCxnSpPr>
        <p:spPr>
          <a:xfrm>
            <a:off x="533400" y="1358900"/>
            <a:ext cx="111252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number">
            <a:extLst>
              <a:ext uri="{FF2B5EF4-FFF2-40B4-BE49-F238E27FC236}">
                <a16:creationId xmlns:a16="http://schemas.microsoft.com/office/drawing/2014/main" id="{2F061850-0B2C-10BE-6C56-72B64935FEAD}"/>
              </a:ext>
            </a:extLst>
          </p:cNvPr>
          <p:cNvSpPr txBox="1"/>
          <p:nvPr/>
        </p:nvSpPr>
        <p:spPr>
          <a:xfrm>
            <a:off x="11430000" y="64770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900">
                <a:solidFill>
                  <a:srgbClr val="5B7080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DAC147-8BE7-6107-A3CA-DB7AAC18B5AE}"/>
              </a:ext>
            </a:extLst>
          </p:cNvPr>
          <p:cNvSpPr txBox="1"/>
          <p:nvPr/>
        </p:nvSpPr>
        <p:spPr>
          <a:xfrm>
            <a:off x="533400" y="16764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008B8B"/>
                </a:solidFill>
                <a:latin typeface="Aptos" panose="020B0004020202020204" pitchFamily="34" charset="0"/>
              </a:rPr>
              <a:t>IN SCOPE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AB99673-79C9-4D4A-2A5B-BBC261307973}"/>
              </a:ext>
            </a:extLst>
          </p:cNvPr>
          <p:cNvSpPr txBox="1"/>
          <p:nvPr/>
        </p:nvSpPr>
        <p:spPr>
          <a:xfrm>
            <a:off x="6426200" y="1676400"/>
            <a:ext cx="523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A66900"/>
                </a:solidFill>
                <a:latin typeface="Aptos" panose="020B0004020202020204" pitchFamily="34" charset="0"/>
              </a:rPr>
              <a:t>CURRENT LIMITATIONS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647063-05D4-DB85-F0E4-7E22363C6321}"/>
              </a:ext>
            </a:extLst>
          </p:cNvPr>
          <p:cNvCxnSpPr/>
          <p:nvPr/>
        </p:nvCxnSpPr>
        <p:spPr>
          <a:xfrm>
            <a:off x="6096000" y="1727200"/>
            <a:ext cx="0" cy="4140200"/>
          </a:xfrm>
          <a:prstGeom prst="straightConnector1">
            <a:avLst/>
          </a:prstGeom>
          <a:ln w="1524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3ACE89F-EE8E-7D40-8F13-464675AAFA70}"/>
              </a:ext>
            </a:extLst>
          </p:cNvPr>
          <p:cNvSpPr/>
          <p:nvPr/>
        </p:nvSpPr>
        <p:spPr>
          <a:xfrm>
            <a:off x="533400" y="22733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ullet">
            <a:extLst>
              <a:ext uri="{FF2B5EF4-FFF2-40B4-BE49-F238E27FC236}">
                <a16:creationId xmlns:a16="http://schemas.microsoft.com/office/drawing/2014/main" id="{D3D927A2-8716-69BE-211F-090A8E84E1D4}"/>
              </a:ext>
            </a:extLst>
          </p:cNvPr>
          <p:cNvSpPr txBox="1"/>
          <p:nvPr/>
        </p:nvSpPr>
        <p:spPr>
          <a:xfrm>
            <a:off x="762000" y="21844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Responsive Flutter mobile and web experiences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D012D0-4504-D281-2821-4B195EDB1C62}"/>
              </a:ext>
            </a:extLst>
          </p:cNvPr>
          <p:cNvSpPr/>
          <p:nvPr/>
        </p:nvSpPr>
        <p:spPr>
          <a:xfrm>
            <a:off x="533400" y="29083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ullet">
            <a:extLst>
              <a:ext uri="{FF2B5EF4-FFF2-40B4-BE49-F238E27FC236}">
                <a16:creationId xmlns:a16="http://schemas.microsoft.com/office/drawing/2014/main" id="{EDF6F37E-F8B1-03FC-CC0E-D3FD7094DEA0}"/>
              </a:ext>
            </a:extLst>
          </p:cNvPr>
          <p:cNvSpPr txBox="1"/>
          <p:nvPr/>
        </p:nvSpPr>
        <p:spPr>
          <a:xfrm>
            <a:off x="762000" y="2819400"/>
            <a:ext cx="4724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Public hospital and clinician discovery with maps and routes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4892FA3-2FC8-4EE5-5128-A37C7A10FD36}"/>
              </a:ext>
            </a:extLst>
          </p:cNvPr>
          <p:cNvSpPr/>
          <p:nvPr/>
        </p:nvSpPr>
        <p:spPr>
          <a:xfrm>
            <a:off x="533400" y="35433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ullet">
            <a:extLst>
              <a:ext uri="{FF2B5EF4-FFF2-40B4-BE49-F238E27FC236}">
                <a16:creationId xmlns:a16="http://schemas.microsoft.com/office/drawing/2014/main" id="{031875C6-AB4D-C873-F54C-22F1DD04AF8C}"/>
              </a:ext>
            </a:extLst>
          </p:cNvPr>
          <p:cNvSpPr txBox="1"/>
          <p:nvPr/>
        </p:nvSpPr>
        <p:spPr>
          <a:xfrm>
            <a:off x="762000" y="3454400"/>
            <a:ext cx="4724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Guest intake, patient booking, consultation, messaging, and notifications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AC9557-2356-A434-FC0B-87F779A08AF6}"/>
              </a:ext>
            </a:extLst>
          </p:cNvPr>
          <p:cNvSpPr/>
          <p:nvPr/>
        </p:nvSpPr>
        <p:spPr>
          <a:xfrm>
            <a:off x="533400" y="41783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bullet">
            <a:extLst>
              <a:ext uri="{FF2B5EF4-FFF2-40B4-BE49-F238E27FC236}">
                <a16:creationId xmlns:a16="http://schemas.microsoft.com/office/drawing/2014/main" id="{0F0D9A94-B201-5C0A-DDF6-F706CC8407A3}"/>
              </a:ext>
            </a:extLst>
          </p:cNvPr>
          <p:cNvSpPr txBox="1"/>
          <p:nvPr/>
        </p:nvSpPr>
        <p:spPr>
          <a:xfrm>
            <a:off x="762000" y="4089400"/>
            <a:ext cx="4724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Doctor schedules, structured clinical documentation, prescriptions, and laboratories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5EA5919-7C1E-B8B5-5B0F-A903036BDD45}"/>
              </a:ext>
            </a:extLst>
          </p:cNvPr>
          <p:cNvSpPr/>
          <p:nvPr/>
        </p:nvSpPr>
        <p:spPr>
          <a:xfrm>
            <a:off x="533400" y="48133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bullet">
            <a:extLst>
              <a:ext uri="{FF2B5EF4-FFF2-40B4-BE49-F238E27FC236}">
                <a16:creationId xmlns:a16="http://schemas.microsoft.com/office/drawing/2014/main" id="{C736E1C6-E47E-6B9C-978F-5A06C803856B}"/>
              </a:ext>
            </a:extLst>
          </p:cNvPr>
          <p:cNvSpPr txBox="1"/>
          <p:nvPr/>
        </p:nvSpPr>
        <p:spPr>
          <a:xfrm>
            <a:off x="762000" y="47244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Hospital operations plus platform governance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58512F-AB81-9BD0-C95C-6B69DCD2DA51}"/>
              </a:ext>
            </a:extLst>
          </p:cNvPr>
          <p:cNvSpPr/>
          <p:nvPr/>
        </p:nvSpPr>
        <p:spPr>
          <a:xfrm>
            <a:off x="533400" y="54483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bullet">
            <a:extLst>
              <a:ext uri="{FF2B5EF4-FFF2-40B4-BE49-F238E27FC236}">
                <a16:creationId xmlns:a16="http://schemas.microsoft.com/office/drawing/2014/main" id="{5B6FE391-107C-82C2-270E-CF1FC7EADC32}"/>
              </a:ext>
            </a:extLst>
          </p:cNvPr>
          <p:cNvSpPr txBox="1"/>
          <p:nvPr/>
        </p:nvSpPr>
        <p:spPr>
          <a:xfrm>
            <a:off x="762000" y="5359400"/>
            <a:ext cx="4724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Supabase Auth, RLS, Realtime, private Storage, RPCs, Edge Functions, and audit controls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7E6ABB1-3046-8894-6125-FAB300EC9882}"/>
              </a:ext>
            </a:extLst>
          </p:cNvPr>
          <p:cNvSpPr/>
          <p:nvPr/>
        </p:nvSpPr>
        <p:spPr>
          <a:xfrm>
            <a:off x="6426200" y="22733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bullet">
            <a:extLst>
              <a:ext uri="{FF2B5EF4-FFF2-40B4-BE49-F238E27FC236}">
                <a16:creationId xmlns:a16="http://schemas.microsoft.com/office/drawing/2014/main" id="{73A98126-A6E6-3D06-BE09-D5F39C714F69}"/>
              </a:ext>
            </a:extLst>
          </p:cNvPr>
          <p:cNvSpPr txBox="1"/>
          <p:nvPr/>
        </p:nvSpPr>
        <p:spPr>
          <a:xfrm>
            <a:off x="6654800" y="2184400"/>
            <a:ext cx="4851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Care-assistant output is preliminary guidance, not a diagnosis or prescription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0C8968C-EB29-E53C-646F-57AC3312D9C2}"/>
              </a:ext>
            </a:extLst>
          </p:cNvPr>
          <p:cNvSpPr/>
          <p:nvPr/>
        </p:nvSpPr>
        <p:spPr>
          <a:xfrm>
            <a:off x="6426200" y="29083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bullet">
            <a:extLst>
              <a:ext uri="{FF2B5EF4-FFF2-40B4-BE49-F238E27FC236}">
                <a16:creationId xmlns:a16="http://schemas.microsoft.com/office/drawing/2014/main" id="{EF6EF1AC-934B-0669-6EC7-FCA0157E7216}"/>
              </a:ext>
            </a:extLst>
          </p:cNvPr>
          <p:cNvSpPr txBox="1"/>
          <p:nvPr/>
        </p:nvSpPr>
        <p:spPr>
          <a:xfrm>
            <a:off x="6654800" y="2819400"/>
            <a:ext cx="48514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External-provider behavior depends on configured Groq, SMTP, Jitsi, map, and Supabase services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17B32B5-8F35-1ADA-60FD-D4EB76B90DAA}"/>
              </a:ext>
            </a:extLst>
          </p:cNvPr>
          <p:cNvSpPr/>
          <p:nvPr/>
        </p:nvSpPr>
        <p:spPr>
          <a:xfrm>
            <a:off x="6426200" y="35433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bullet">
            <a:extLst>
              <a:ext uri="{FF2B5EF4-FFF2-40B4-BE49-F238E27FC236}">
                <a16:creationId xmlns:a16="http://schemas.microsoft.com/office/drawing/2014/main" id="{3977702D-F160-3EE1-A61C-304255812B8E}"/>
              </a:ext>
            </a:extLst>
          </p:cNvPr>
          <p:cNvSpPr txBox="1"/>
          <p:nvPr/>
        </p:nvSpPr>
        <p:spPr>
          <a:xfrm>
            <a:off x="6654800" y="3454400"/>
            <a:ext cx="4851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Live role-to-role end-to-end tests require seeded non-production accounts and credentials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F8E23AB-846D-A50F-FC2C-B9A9308AD983}"/>
              </a:ext>
            </a:extLst>
          </p:cNvPr>
          <p:cNvSpPr/>
          <p:nvPr/>
        </p:nvSpPr>
        <p:spPr>
          <a:xfrm>
            <a:off x="6426200" y="41783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bullet">
            <a:extLst>
              <a:ext uri="{FF2B5EF4-FFF2-40B4-BE49-F238E27FC236}">
                <a16:creationId xmlns:a16="http://schemas.microsoft.com/office/drawing/2014/main" id="{C5157924-DC89-2A19-C44B-4D3B39CA5809}"/>
              </a:ext>
            </a:extLst>
          </p:cNvPr>
          <p:cNvSpPr txBox="1"/>
          <p:nvPr/>
        </p:nvSpPr>
        <p:spPr>
          <a:xfrm>
            <a:off x="6654800" y="4089400"/>
            <a:ext cx="4851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iOS/device, load, disaster-recovery, privacy, and compliance validation remain before release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BDDC5FD-35D2-5F3E-EC79-AB31D08FAEC5}"/>
              </a:ext>
            </a:extLst>
          </p:cNvPr>
          <p:cNvSpPr/>
          <p:nvPr/>
        </p:nvSpPr>
        <p:spPr>
          <a:xfrm>
            <a:off x="6426200" y="48133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bullet">
            <a:extLst>
              <a:ext uri="{FF2B5EF4-FFF2-40B4-BE49-F238E27FC236}">
                <a16:creationId xmlns:a16="http://schemas.microsoft.com/office/drawing/2014/main" id="{750F5720-D30C-BFA3-A05E-DA6E407476EA}"/>
              </a:ext>
            </a:extLst>
          </p:cNvPr>
          <p:cNvSpPr txBox="1"/>
          <p:nvPr/>
        </p:nvSpPr>
        <p:spPr>
          <a:xfrm>
            <a:off x="6654800" y="4724400"/>
            <a:ext cx="48514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Public directory screenshots show explicit unavailable states when backend configuration is absent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1395252-0843-4CBE-5847-2227CD741D6B}"/>
              </a:ext>
            </a:extLst>
          </p:cNvPr>
          <p:cNvSpPr/>
          <p:nvPr/>
        </p:nvSpPr>
        <p:spPr>
          <a:xfrm>
            <a:off x="6426200" y="5448300"/>
            <a:ext cx="101600" cy="1016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bullet">
            <a:extLst>
              <a:ext uri="{FF2B5EF4-FFF2-40B4-BE49-F238E27FC236}">
                <a16:creationId xmlns:a16="http://schemas.microsoft.com/office/drawing/2014/main" id="{5930145F-8CAB-E3D1-9352-8CC83549A0ED}"/>
              </a:ext>
            </a:extLst>
          </p:cNvPr>
          <p:cNvSpPr txBox="1"/>
          <p:nvPr/>
        </p:nvSpPr>
        <p:spPr>
          <a:xfrm>
            <a:off x="6654800" y="5359400"/>
            <a:ext cx="4851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Current visual regression baselines require review after recent UI changes</a:t>
            </a:r>
          </a:p>
        </p:txBody>
      </p:sp>
    </p:spTree>
    <p:extLst>
      <p:ext uri="{BB962C8B-B14F-4D97-AF65-F5344CB8AC3E}">
        <p14:creationId xmlns:p14="http://schemas.microsoft.com/office/powerpoint/2010/main" val="3850455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D18C0B0F-D567-BC2C-674A-A10A92764545}"/>
              </a:ext>
            </a:extLst>
          </p:cNvPr>
          <p:cNvSpPr txBox="1"/>
          <p:nvPr/>
        </p:nvSpPr>
        <p:spPr>
          <a:xfrm>
            <a:off x="533400" y="304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008B8B"/>
                </a:solidFill>
                <a:latin typeface="Aptos" panose="020B0004020202020204" pitchFamily="34" charset="0"/>
              </a:rPr>
              <a:t>SYSTEM DEFENSE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B3B6A505-C176-A0B1-6674-077885B802FC}"/>
              </a:ext>
            </a:extLst>
          </p:cNvPr>
          <p:cNvSpPr txBox="1"/>
          <p:nvPr/>
        </p:nvSpPr>
        <p:spPr>
          <a:xfrm>
            <a:off x="533400" y="6096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Layers separate presentation, data access, and authority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102665-AA2B-DC40-EBA6-B1AC4F3882EE}"/>
              </a:ext>
            </a:extLst>
          </p:cNvPr>
          <p:cNvCxnSpPr/>
          <p:nvPr/>
        </p:nvCxnSpPr>
        <p:spPr>
          <a:xfrm>
            <a:off x="533400" y="1358900"/>
            <a:ext cx="111252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number">
            <a:extLst>
              <a:ext uri="{FF2B5EF4-FFF2-40B4-BE49-F238E27FC236}">
                <a16:creationId xmlns:a16="http://schemas.microsoft.com/office/drawing/2014/main" id="{755CDBDB-616B-FBB0-BD0F-E0E6D5930E6A}"/>
              </a:ext>
            </a:extLst>
          </p:cNvPr>
          <p:cNvSpPr txBox="1"/>
          <p:nvPr/>
        </p:nvSpPr>
        <p:spPr>
          <a:xfrm>
            <a:off x="11430000" y="64770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900">
                <a:solidFill>
                  <a:srgbClr val="5B7080"/>
                </a:solidFill>
                <a:latin typeface="Aptos" panose="020B0004020202020204" pitchFamily="34" charset="0"/>
              </a:rPr>
              <a:t>7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12C2DC2-E451-04AA-172A-A3137A9F8257}"/>
              </a:ext>
            </a:extLst>
          </p:cNvPr>
          <p:cNvCxnSpPr/>
          <p:nvPr/>
        </p:nvCxnSpPr>
        <p:spPr>
          <a:xfrm>
            <a:off x="2159000" y="2692400"/>
            <a:ext cx="889000" cy="0"/>
          </a:xfrm>
          <a:prstGeom prst="straightConnector1">
            <a:avLst/>
          </a:prstGeom>
          <a:ln w="2540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8BE75D-D2B3-2823-5E20-C733016B87E3}"/>
              </a:ext>
            </a:extLst>
          </p:cNvPr>
          <p:cNvCxnSpPr/>
          <p:nvPr/>
        </p:nvCxnSpPr>
        <p:spPr>
          <a:xfrm>
            <a:off x="5054600" y="2692400"/>
            <a:ext cx="889000" cy="0"/>
          </a:xfrm>
          <a:prstGeom prst="straightConnector1">
            <a:avLst/>
          </a:prstGeom>
          <a:ln w="2540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90BCF7-9467-3376-AD64-7233F71F390D}"/>
              </a:ext>
            </a:extLst>
          </p:cNvPr>
          <p:cNvCxnSpPr/>
          <p:nvPr/>
        </p:nvCxnSpPr>
        <p:spPr>
          <a:xfrm>
            <a:off x="7950200" y="2692400"/>
            <a:ext cx="889000" cy="0"/>
          </a:xfrm>
          <a:prstGeom prst="straightConnector1">
            <a:avLst/>
          </a:prstGeom>
          <a:ln w="2540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12D620-B53E-EA52-BC2B-F684842C7B18}"/>
              </a:ext>
            </a:extLst>
          </p:cNvPr>
          <p:cNvCxnSpPr/>
          <p:nvPr/>
        </p:nvCxnSpPr>
        <p:spPr>
          <a:xfrm>
            <a:off x="7391400" y="3784600"/>
            <a:ext cx="0" cy="685800"/>
          </a:xfrm>
          <a:prstGeom prst="straightConnector1">
            <a:avLst/>
          </a:prstGeom>
          <a:ln w="19050">
            <a:solidFill>
              <a:srgbClr val="5B7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EDA39B-8691-6429-9824-3F1C6B902E87}"/>
              </a:ext>
            </a:extLst>
          </p:cNvPr>
          <p:cNvCxnSpPr/>
          <p:nvPr/>
        </p:nvCxnSpPr>
        <p:spPr>
          <a:xfrm>
            <a:off x="9906000" y="3784600"/>
            <a:ext cx="0" cy="685800"/>
          </a:xfrm>
          <a:prstGeom prst="straightConnector1">
            <a:avLst/>
          </a:prstGeom>
          <a:ln w="19050">
            <a:solidFill>
              <a:srgbClr val="5B7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ox">
            <a:extLst>
              <a:ext uri="{FF2B5EF4-FFF2-40B4-BE49-F238E27FC236}">
                <a16:creationId xmlns:a16="http://schemas.microsoft.com/office/drawing/2014/main" id="{DD113616-D906-E974-7E6D-2E2D6B730E39}"/>
              </a:ext>
            </a:extLst>
          </p:cNvPr>
          <p:cNvSpPr/>
          <p:nvPr/>
        </p:nvSpPr>
        <p:spPr>
          <a:xfrm>
            <a:off x="533400" y="2082800"/>
            <a:ext cx="1625600" cy="1219200"/>
          </a:xfrm>
          <a:prstGeom prst="roundRect">
            <a:avLst/>
          </a:prstGeom>
          <a:solidFill>
            <a:srgbClr val="E4F7F4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7B03C60-57F7-30F5-933B-03017E7D2F4F}"/>
              </a:ext>
            </a:extLst>
          </p:cNvPr>
          <p:cNvSpPr txBox="1"/>
          <p:nvPr/>
        </p:nvSpPr>
        <p:spPr>
          <a:xfrm>
            <a:off x="711200" y="2260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Actors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BB47B0B-5378-65AA-69D1-180AA3ED98C9}"/>
              </a:ext>
            </a:extLst>
          </p:cNvPr>
          <p:cNvSpPr txBox="1"/>
          <p:nvPr/>
        </p:nvSpPr>
        <p:spPr>
          <a:xfrm>
            <a:off x="711200" y="2641600"/>
            <a:ext cx="12700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Five role-aware user types</a:t>
            </a:r>
          </a:p>
        </p:txBody>
      </p:sp>
      <p:sp>
        <p:nvSpPr>
          <p:cNvPr id="14" name="box">
            <a:extLst>
              <a:ext uri="{FF2B5EF4-FFF2-40B4-BE49-F238E27FC236}">
                <a16:creationId xmlns:a16="http://schemas.microsoft.com/office/drawing/2014/main" id="{E48FBD63-886F-DD8D-2383-320F1A98666C}"/>
              </a:ext>
            </a:extLst>
          </p:cNvPr>
          <p:cNvSpPr/>
          <p:nvPr/>
        </p:nvSpPr>
        <p:spPr>
          <a:xfrm>
            <a:off x="3048000" y="2082800"/>
            <a:ext cx="20066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88878C6E-67C5-692F-D62E-E19EFA24B89E}"/>
              </a:ext>
            </a:extLst>
          </p:cNvPr>
          <p:cNvSpPr txBox="1"/>
          <p:nvPr/>
        </p:nvSpPr>
        <p:spPr>
          <a:xfrm>
            <a:off x="3225800" y="2260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Flutter UI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C8BA6109-B900-0762-6F92-88D03E837430}"/>
              </a:ext>
            </a:extLst>
          </p:cNvPr>
          <p:cNvSpPr txBox="1"/>
          <p:nvPr/>
        </p:nvSpPr>
        <p:spPr>
          <a:xfrm>
            <a:off x="3225800" y="2641600"/>
            <a:ext cx="16510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Feature screens, shared widgets, GoRouter, Riverpod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6FF19A9C-C2D6-EAE0-0AD9-79DA3126ABD0}"/>
              </a:ext>
            </a:extLst>
          </p:cNvPr>
          <p:cNvSpPr/>
          <p:nvPr/>
        </p:nvSpPr>
        <p:spPr>
          <a:xfrm>
            <a:off x="5943600" y="2082800"/>
            <a:ext cx="20066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2DA0A71-7855-788B-1869-A72CEEE5B2B2}"/>
              </a:ext>
            </a:extLst>
          </p:cNvPr>
          <p:cNvSpPr txBox="1"/>
          <p:nvPr/>
        </p:nvSpPr>
        <p:spPr>
          <a:xfrm>
            <a:off x="6121400" y="2260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Repositories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F94BF19-647C-291D-9F7F-993A0262684F}"/>
              </a:ext>
            </a:extLst>
          </p:cNvPr>
          <p:cNvSpPr txBox="1"/>
          <p:nvPr/>
        </p:nvSpPr>
        <p:spPr>
          <a:xfrm>
            <a:off x="6121400" y="2641600"/>
            <a:ext cx="16510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Typed queries, mutations, validation, and realtime mapping</a:t>
            </a: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3403F4D4-2DD8-4941-36A5-4B4EB763318B}"/>
              </a:ext>
            </a:extLst>
          </p:cNvPr>
          <p:cNvSpPr/>
          <p:nvPr/>
        </p:nvSpPr>
        <p:spPr>
          <a:xfrm>
            <a:off x="8839200" y="2082800"/>
            <a:ext cx="2819400" cy="1701800"/>
          </a:xfrm>
          <a:prstGeom prst="roundRect">
            <a:avLst/>
          </a:prstGeom>
          <a:solidFill>
            <a:srgbClr val="EDF2F5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D2C9EAAA-76E4-00D5-7E61-9DD7B87D059A}"/>
              </a:ext>
            </a:extLst>
          </p:cNvPr>
          <p:cNvSpPr txBox="1"/>
          <p:nvPr/>
        </p:nvSpPr>
        <p:spPr>
          <a:xfrm>
            <a:off x="9017000" y="22606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Supabase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7B009A95-3E48-308C-79A3-27F6EB54B5A0}"/>
              </a:ext>
            </a:extLst>
          </p:cNvPr>
          <p:cNvSpPr txBox="1"/>
          <p:nvPr/>
        </p:nvSpPr>
        <p:spPr>
          <a:xfrm>
            <a:off x="9017000" y="2641600"/>
            <a:ext cx="24638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Auth | API and RPC | PostgreSQL plus RLS | Realtime | private Storage | Edge Functions | Cron</a:t>
            </a:r>
          </a:p>
        </p:txBody>
      </p:sp>
      <p:sp>
        <p:nvSpPr>
          <p:cNvPr id="23" name="box">
            <a:extLst>
              <a:ext uri="{FF2B5EF4-FFF2-40B4-BE49-F238E27FC236}">
                <a16:creationId xmlns:a16="http://schemas.microsoft.com/office/drawing/2014/main" id="{F6606C27-C5C1-32BA-7F75-0654E82B642A}"/>
              </a:ext>
            </a:extLst>
          </p:cNvPr>
          <p:cNvSpPr/>
          <p:nvPr/>
        </p:nvSpPr>
        <p:spPr>
          <a:xfrm>
            <a:off x="5943600" y="4470400"/>
            <a:ext cx="2895600" cy="990600"/>
          </a:xfrm>
          <a:prstGeom prst="roundRect">
            <a:avLst/>
          </a:prstGeom>
          <a:solidFill>
            <a:srgbClr val="FFF5DA"/>
          </a:solidFill>
          <a:ln w="12700">
            <a:solidFill>
              <a:srgbClr val="A66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20DA1090-149F-4D5B-7B99-E92523D1AFA8}"/>
              </a:ext>
            </a:extLst>
          </p:cNvPr>
          <p:cNvSpPr txBox="1"/>
          <p:nvPr/>
        </p:nvSpPr>
        <p:spPr>
          <a:xfrm>
            <a:off x="6121400" y="46482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Server integrations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7583BDF7-1ED8-DB35-75D5-B9B39B8AD3A0}"/>
              </a:ext>
            </a:extLst>
          </p:cNvPr>
          <p:cNvSpPr txBox="1"/>
          <p:nvPr/>
        </p:nvSpPr>
        <p:spPr>
          <a:xfrm>
            <a:off x="6121400" y="50292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Groq AI and Gmail SMTP</a:t>
            </a:r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E6CC4CE1-FD84-E3A0-AACB-34DBC8FE0A34}"/>
              </a:ext>
            </a:extLst>
          </p:cNvPr>
          <p:cNvSpPr/>
          <p:nvPr/>
        </p:nvSpPr>
        <p:spPr>
          <a:xfrm>
            <a:off x="9067800" y="4470400"/>
            <a:ext cx="2590800" cy="990600"/>
          </a:xfrm>
          <a:prstGeom prst="roundRect">
            <a:avLst/>
          </a:prstGeom>
          <a:solidFill>
            <a:srgbClr val="E6F1F9"/>
          </a:solidFill>
          <a:ln w="12700">
            <a:solidFill>
              <a:srgbClr val="2972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DDE5DEAA-2151-5A94-DE26-E142D375C76E}"/>
              </a:ext>
            </a:extLst>
          </p:cNvPr>
          <p:cNvSpPr txBox="1"/>
          <p:nvPr/>
        </p:nvSpPr>
        <p:spPr>
          <a:xfrm>
            <a:off x="9245600" y="4648200"/>
            <a:ext cx="223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Client integrations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A477DA27-397F-873C-AC3F-E0CFB8056669}"/>
              </a:ext>
            </a:extLst>
          </p:cNvPr>
          <p:cNvSpPr txBox="1"/>
          <p:nvPr/>
        </p:nvSpPr>
        <p:spPr>
          <a:xfrm>
            <a:off x="9245600" y="5029200"/>
            <a:ext cx="2235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Jitsi, OpenStreetMap, OSRM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EE98F4B7-1A52-007E-5212-DD41FE1512F5}"/>
              </a:ext>
            </a:extLst>
          </p:cNvPr>
          <p:cNvSpPr txBox="1"/>
          <p:nvPr/>
        </p:nvSpPr>
        <p:spPr>
          <a:xfrm>
            <a:off x="533400" y="5943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08B8B"/>
                </a:solidFill>
                <a:latin typeface="Aptos" panose="020B0004020202020204" pitchFamily="34" charset="0"/>
              </a:rPr>
              <a:t>Public configuration stops at the client. Privileged keys and clinical authorization remain server-side.</a:t>
            </a:r>
          </a:p>
        </p:txBody>
      </p:sp>
    </p:spTree>
    <p:extLst>
      <p:ext uri="{BB962C8B-B14F-4D97-AF65-F5344CB8AC3E}">
        <p14:creationId xmlns:p14="http://schemas.microsoft.com/office/powerpoint/2010/main" val="3684023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D1D46686-9109-C9D3-4AEE-1ECB95758254}"/>
              </a:ext>
            </a:extLst>
          </p:cNvPr>
          <p:cNvSpPr txBox="1"/>
          <p:nvPr/>
        </p:nvSpPr>
        <p:spPr>
          <a:xfrm>
            <a:off x="533400" y="304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008B8B"/>
                </a:solidFill>
                <a:latin typeface="Aptos" panose="020B0004020202020204" pitchFamily="34" charset="0"/>
              </a:rPr>
              <a:t>SYSTEM DEFENSE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1C557B98-21A2-CD4D-6998-61692A787467}"/>
              </a:ext>
            </a:extLst>
          </p:cNvPr>
          <p:cNvSpPr txBox="1"/>
          <p:nvPr/>
        </p:nvSpPr>
        <p:spPr>
          <a:xfrm>
            <a:off x="533400" y="6096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Care relationships govern clinical access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518D7C3-4CD6-FC1A-6B7A-8ABFB7ED2DC5}"/>
              </a:ext>
            </a:extLst>
          </p:cNvPr>
          <p:cNvCxnSpPr/>
          <p:nvPr/>
        </p:nvCxnSpPr>
        <p:spPr>
          <a:xfrm>
            <a:off x="533400" y="1358900"/>
            <a:ext cx="111252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number">
            <a:extLst>
              <a:ext uri="{FF2B5EF4-FFF2-40B4-BE49-F238E27FC236}">
                <a16:creationId xmlns:a16="http://schemas.microsoft.com/office/drawing/2014/main" id="{F5299E0C-E3AF-B368-E3C2-1C6EDB1F20B0}"/>
              </a:ext>
            </a:extLst>
          </p:cNvPr>
          <p:cNvSpPr txBox="1"/>
          <p:nvPr/>
        </p:nvSpPr>
        <p:spPr>
          <a:xfrm>
            <a:off x="11430000" y="64770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900">
                <a:solidFill>
                  <a:srgbClr val="5B7080"/>
                </a:solidFill>
                <a:latin typeface="Aptos" panose="020B0004020202020204" pitchFamily="34" charset="0"/>
              </a:rPr>
              <a:t>8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1707F2-4881-1607-FFB4-B1D1DF760470}"/>
              </a:ext>
            </a:extLst>
          </p:cNvPr>
          <p:cNvCxnSpPr/>
          <p:nvPr/>
        </p:nvCxnSpPr>
        <p:spPr>
          <a:xfrm>
            <a:off x="1371600" y="2590800"/>
            <a:ext cx="0" cy="533400"/>
          </a:xfrm>
          <a:prstGeom prst="straightConnector1">
            <a:avLst/>
          </a:prstGeom>
          <a:ln w="15240">
            <a:solidFill>
              <a:srgbClr val="5B7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0881C3-07D2-5224-A20D-A30A1F4EDD92}"/>
              </a:ext>
            </a:extLst>
          </p:cNvPr>
          <p:cNvCxnSpPr/>
          <p:nvPr/>
        </p:nvCxnSpPr>
        <p:spPr>
          <a:xfrm>
            <a:off x="1371600" y="2590800"/>
            <a:ext cx="0" cy="1752600"/>
          </a:xfrm>
          <a:prstGeom prst="straightConnector1">
            <a:avLst/>
          </a:prstGeom>
          <a:ln w="15240">
            <a:solidFill>
              <a:srgbClr val="5B7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069198-BDF5-2765-04C1-255567BFA0E3}"/>
              </a:ext>
            </a:extLst>
          </p:cNvPr>
          <p:cNvCxnSpPr/>
          <p:nvPr/>
        </p:nvCxnSpPr>
        <p:spPr>
          <a:xfrm flipV="1">
            <a:off x="2209800" y="3467100"/>
            <a:ext cx="889000" cy="1219200"/>
          </a:xfrm>
          <a:prstGeom prst="straightConnector1">
            <a:avLst/>
          </a:prstGeom>
          <a:ln w="15240">
            <a:solidFill>
              <a:srgbClr val="5B7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52C6EB-D9E7-5A6A-88C9-5F2661090F72}"/>
              </a:ext>
            </a:extLst>
          </p:cNvPr>
          <p:cNvCxnSpPr/>
          <p:nvPr/>
        </p:nvCxnSpPr>
        <p:spPr>
          <a:xfrm>
            <a:off x="4051300" y="2590800"/>
            <a:ext cx="0" cy="533400"/>
          </a:xfrm>
          <a:prstGeom prst="straightConnector1">
            <a:avLst/>
          </a:prstGeom>
          <a:ln w="15240">
            <a:solidFill>
              <a:srgbClr val="5B7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EC070A-76AB-0AC1-5946-DEF9DC9A3C31}"/>
              </a:ext>
            </a:extLst>
          </p:cNvPr>
          <p:cNvCxnSpPr/>
          <p:nvPr/>
        </p:nvCxnSpPr>
        <p:spPr>
          <a:xfrm>
            <a:off x="4051300" y="2590800"/>
            <a:ext cx="0" cy="1752600"/>
          </a:xfrm>
          <a:prstGeom prst="straightConnector1">
            <a:avLst/>
          </a:prstGeom>
          <a:ln w="15240">
            <a:solidFill>
              <a:srgbClr val="5B7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8E66F4-363E-AC3A-5064-DA6E74B36536}"/>
              </a:ext>
            </a:extLst>
          </p:cNvPr>
          <p:cNvCxnSpPr/>
          <p:nvPr/>
        </p:nvCxnSpPr>
        <p:spPr>
          <a:xfrm>
            <a:off x="5003800" y="2247900"/>
            <a:ext cx="965200" cy="0"/>
          </a:xfrm>
          <a:prstGeom prst="straightConnector1">
            <a:avLst/>
          </a:prstGeom>
          <a:ln w="1905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79FC14-4851-49B0-DFCE-644992F02314}"/>
              </a:ext>
            </a:extLst>
          </p:cNvPr>
          <p:cNvCxnSpPr/>
          <p:nvPr/>
        </p:nvCxnSpPr>
        <p:spPr>
          <a:xfrm flipV="1">
            <a:off x="2209800" y="2247900"/>
            <a:ext cx="3759200" cy="1219200"/>
          </a:xfrm>
          <a:prstGeom prst="straightConnector1">
            <a:avLst/>
          </a:prstGeom>
          <a:ln w="1905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E387F2-6BAA-7DF2-9606-747E567D59AA}"/>
              </a:ext>
            </a:extLst>
          </p:cNvPr>
          <p:cNvCxnSpPr/>
          <p:nvPr/>
        </p:nvCxnSpPr>
        <p:spPr>
          <a:xfrm flipV="1">
            <a:off x="2209800" y="2247900"/>
            <a:ext cx="3759200" cy="2438400"/>
          </a:xfrm>
          <a:prstGeom prst="straightConnector1">
            <a:avLst/>
          </a:prstGeom>
          <a:ln w="1905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BA0AED-CE0A-FD08-AF8C-12880778C5E8}"/>
              </a:ext>
            </a:extLst>
          </p:cNvPr>
          <p:cNvCxnSpPr/>
          <p:nvPr/>
        </p:nvCxnSpPr>
        <p:spPr>
          <a:xfrm>
            <a:off x="7048500" y="2590800"/>
            <a:ext cx="0" cy="533400"/>
          </a:xfrm>
          <a:prstGeom prst="straightConnector1">
            <a:avLst/>
          </a:prstGeom>
          <a:ln w="1905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FE5C04-3397-6672-DC27-AB310A3A544E}"/>
              </a:ext>
            </a:extLst>
          </p:cNvPr>
          <p:cNvCxnSpPr/>
          <p:nvPr/>
        </p:nvCxnSpPr>
        <p:spPr>
          <a:xfrm>
            <a:off x="2209800" y="3467100"/>
            <a:ext cx="3759200" cy="0"/>
          </a:xfrm>
          <a:prstGeom prst="straightConnector1">
            <a:avLst/>
          </a:prstGeom>
          <a:ln w="1905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B1C00E-8321-578B-ADA2-505B1C983ABA}"/>
              </a:ext>
            </a:extLst>
          </p:cNvPr>
          <p:cNvCxnSpPr/>
          <p:nvPr/>
        </p:nvCxnSpPr>
        <p:spPr>
          <a:xfrm>
            <a:off x="2209800" y="4686300"/>
            <a:ext cx="3759200" cy="0"/>
          </a:xfrm>
          <a:prstGeom prst="straightConnector1">
            <a:avLst/>
          </a:prstGeom>
          <a:ln w="19050">
            <a:solidFill>
              <a:srgbClr val="008B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33EA5D-4FB1-1017-5600-559A2AAAED1F}"/>
              </a:ext>
            </a:extLst>
          </p:cNvPr>
          <p:cNvCxnSpPr/>
          <p:nvPr/>
        </p:nvCxnSpPr>
        <p:spPr>
          <a:xfrm flipV="1">
            <a:off x="8128000" y="2247900"/>
            <a:ext cx="965200" cy="1219200"/>
          </a:xfrm>
          <a:prstGeom prst="straightConnector1">
            <a:avLst/>
          </a:prstGeom>
          <a:ln w="15240">
            <a:solidFill>
              <a:srgbClr val="5B7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70C2B1-FF59-BDAA-4F4D-F23A3E392616}"/>
              </a:ext>
            </a:extLst>
          </p:cNvPr>
          <p:cNvCxnSpPr/>
          <p:nvPr/>
        </p:nvCxnSpPr>
        <p:spPr>
          <a:xfrm>
            <a:off x="8128000" y="3467100"/>
            <a:ext cx="965200" cy="0"/>
          </a:xfrm>
          <a:prstGeom prst="straightConnector1">
            <a:avLst/>
          </a:prstGeom>
          <a:ln w="15240">
            <a:solidFill>
              <a:srgbClr val="5B7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956D3A6-0AF1-5E08-8007-07A3C01742AE}"/>
              </a:ext>
            </a:extLst>
          </p:cNvPr>
          <p:cNvCxnSpPr/>
          <p:nvPr/>
        </p:nvCxnSpPr>
        <p:spPr>
          <a:xfrm>
            <a:off x="8128000" y="3467100"/>
            <a:ext cx="965200" cy="1219200"/>
          </a:xfrm>
          <a:prstGeom prst="straightConnector1">
            <a:avLst/>
          </a:prstGeom>
          <a:ln w="15240">
            <a:solidFill>
              <a:srgbClr val="5B70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box">
            <a:extLst>
              <a:ext uri="{FF2B5EF4-FFF2-40B4-BE49-F238E27FC236}">
                <a16:creationId xmlns:a16="http://schemas.microsoft.com/office/drawing/2014/main" id="{A556A351-8BEE-4F81-B3A9-A3A20D156953}"/>
              </a:ext>
            </a:extLst>
          </p:cNvPr>
          <p:cNvSpPr/>
          <p:nvPr/>
        </p:nvSpPr>
        <p:spPr>
          <a:xfrm>
            <a:off x="5969000" y="3124200"/>
            <a:ext cx="2159000" cy="685800"/>
          </a:xfrm>
          <a:prstGeom prst="roundRect">
            <a:avLst/>
          </a:prstGeom>
          <a:solidFill>
            <a:srgbClr val="E4F7F4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3BD136EC-913A-1A89-6C1A-37BEABFA40A5}"/>
              </a:ext>
            </a:extLst>
          </p:cNvPr>
          <p:cNvSpPr txBox="1"/>
          <p:nvPr/>
        </p:nvSpPr>
        <p:spPr>
          <a:xfrm>
            <a:off x="6096000" y="32385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0B2545"/>
                </a:solidFill>
                <a:latin typeface="Aptos" panose="020B0004020202020204" pitchFamily="34" charset="0"/>
              </a:rPr>
              <a:t>consultations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E42650E9-A04E-615A-47D7-50CEE258CE26}"/>
              </a:ext>
            </a:extLst>
          </p:cNvPr>
          <p:cNvSpPr txBox="1"/>
          <p:nvPr/>
        </p:nvSpPr>
        <p:spPr>
          <a:xfrm>
            <a:off x="6096000" y="3505200"/>
            <a:ext cx="1905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5B7080"/>
                </a:solidFill>
                <a:latin typeface="Aptos" panose="020B0004020202020204" pitchFamily="34" charset="0"/>
              </a:rPr>
              <a:t>Schedule and lifecycle</a:t>
            </a:r>
          </a:p>
        </p:txBody>
      </p:sp>
      <p:sp>
        <p:nvSpPr>
          <p:cNvPr id="23" name="box">
            <a:extLst>
              <a:ext uri="{FF2B5EF4-FFF2-40B4-BE49-F238E27FC236}">
                <a16:creationId xmlns:a16="http://schemas.microsoft.com/office/drawing/2014/main" id="{485F52CF-9AA1-122F-A4B1-1F5CE1642192}"/>
              </a:ext>
            </a:extLst>
          </p:cNvPr>
          <p:cNvSpPr/>
          <p:nvPr/>
        </p:nvSpPr>
        <p:spPr>
          <a:xfrm>
            <a:off x="9093200" y="3124200"/>
            <a:ext cx="2565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2E3EF433-A324-F8CB-01CD-406378EB7827}"/>
              </a:ext>
            </a:extLst>
          </p:cNvPr>
          <p:cNvSpPr txBox="1"/>
          <p:nvPr/>
        </p:nvSpPr>
        <p:spPr>
          <a:xfrm>
            <a:off x="9220200" y="3238500"/>
            <a:ext cx="231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0B2545"/>
                </a:solidFill>
                <a:latin typeface="Aptos" panose="020B0004020202020204" pitchFamily="34" charset="0"/>
              </a:rPr>
              <a:t>prescriptions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3874897F-F16A-0D1A-7B01-926555DE16EF}"/>
              </a:ext>
            </a:extLst>
          </p:cNvPr>
          <p:cNvSpPr txBox="1"/>
          <p:nvPr/>
        </p:nvSpPr>
        <p:spPr>
          <a:xfrm>
            <a:off x="9220200" y="3505200"/>
            <a:ext cx="2311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5B7080"/>
                </a:solidFill>
                <a:latin typeface="Aptos" panose="020B0004020202020204" pitchFamily="34" charset="0"/>
              </a:rPr>
              <a:t>Signed medication orders</a:t>
            </a:r>
          </a:p>
        </p:txBody>
      </p:sp>
      <p:sp>
        <p:nvSpPr>
          <p:cNvPr id="26" name="box">
            <a:extLst>
              <a:ext uri="{FF2B5EF4-FFF2-40B4-BE49-F238E27FC236}">
                <a16:creationId xmlns:a16="http://schemas.microsoft.com/office/drawing/2014/main" id="{1307934C-862D-84F5-E7B6-CF91739646BD}"/>
              </a:ext>
            </a:extLst>
          </p:cNvPr>
          <p:cNvSpPr/>
          <p:nvPr/>
        </p:nvSpPr>
        <p:spPr>
          <a:xfrm>
            <a:off x="9093200" y="1905000"/>
            <a:ext cx="2565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589821D2-6E6B-4AC5-7962-1E1D9A663795}"/>
              </a:ext>
            </a:extLst>
          </p:cNvPr>
          <p:cNvSpPr txBox="1"/>
          <p:nvPr/>
        </p:nvSpPr>
        <p:spPr>
          <a:xfrm>
            <a:off x="9220200" y="2019300"/>
            <a:ext cx="231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0B2545"/>
                </a:solidFill>
                <a:latin typeface="Aptos" panose="020B0004020202020204" pitchFamily="34" charset="0"/>
              </a:rPr>
              <a:t>medical records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31C5CFE1-7001-C3E2-28F0-02394808A1AC}"/>
              </a:ext>
            </a:extLst>
          </p:cNvPr>
          <p:cNvSpPr txBox="1"/>
          <p:nvPr/>
        </p:nvSpPr>
        <p:spPr>
          <a:xfrm>
            <a:off x="9220200" y="2286000"/>
            <a:ext cx="2311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5B7080"/>
                </a:solidFill>
                <a:latin typeface="Aptos" panose="020B0004020202020204" pitchFamily="34" charset="0"/>
              </a:rPr>
              <a:t>Structured checkups and notes</a:t>
            </a:r>
          </a:p>
        </p:txBody>
      </p:sp>
      <p:sp>
        <p:nvSpPr>
          <p:cNvPr id="29" name="box">
            <a:extLst>
              <a:ext uri="{FF2B5EF4-FFF2-40B4-BE49-F238E27FC236}">
                <a16:creationId xmlns:a16="http://schemas.microsoft.com/office/drawing/2014/main" id="{03A5A994-43E3-04DB-52F6-80859A452629}"/>
              </a:ext>
            </a:extLst>
          </p:cNvPr>
          <p:cNvSpPr/>
          <p:nvPr/>
        </p:nvSpPr>
        <p:spPr>
          <a:xfrm>
            <a:off x="3098800" y="3124200"/>
            <a:ext cx="1905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95E8E4EE-0AA0-44DC-E3D3-DCE1B11FB1D3}"/>
              </a:ext>
            </a:extLst>
          </p:cNvPr>
          <p:cNvSpPr txBox="1"/>
          <p:nvPr/>
        </p:nvSpPr>
        <p:spPr>
          <a:xfrm>
            <a:off x="3225800" y="32385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0B2545"/>
                </a:solidFill>
                <a:latin typeface="Aptos" panose="020B0004020202020204" pitchFamily="34" charset="0"/>
              </a:rPr>
              <a:t>employments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79C04794-B05E-867E-58B1-CD7DFAFB3CFC}"/>
              </a:ext>
            </a:extLst>
          </p:cNvPr>
          <p:cNvSpPr txBox="1"/>
          <p:nvPr/>
        </p:nvSpPr>
        <p:spPr>
          <a:xfrm>
            <a:off x="3225800" y="3505200"/>
            <a:ext cx="1651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5B7080"/>
                </a:solidFill>
                <a:latin typeface="Aptos" panose="020B0004020202020204" pitchFamily="34" charset="0"/>
              </a:rPr>
              <a:t>Hospital-clinician links</a:t>
            </a:r>
          </a:p>
        </p:txBody>
      </p:sp>
      <p:sp>
        <p:nvSpPr>
          <p:cNvPr id="32" name="box">
            <a:extLst>
              <a:ext uri="{FF2B5EF4-FFF2-40B4-BE49-F238E27FC236}">
                <a16:creationId xmlns:a16="http://schemas.microsoft.com/office/drawing/2014/main" id="{1E59D27A-6234-C114-BF48-7C1454A93B51}"/>
              </a:ext>
            </a:extLst>
          </p:cNvPr>
          <p:cNvSpPr/>
          <p:nvPr/>
        </p:nvSpPr>
        <p:spPr>
          <a:xfrm>
            <a:off x="3098800" y="4343400"/>
            <a:ext cx="1905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C3B4F1B7-D709-C1CA-3945-F2E9D0869DAF}"/>
              </a:ext>
            </a:extLst>
          </p:cNvPr>
          <p:cNvSpPr txBox="1"/>
          <p:nvPr/>
        </p:nvSpPr>
        <p:spPr>
          <a:xfrm>
            <a:off x="3225800" y="44577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0B2545"/>
                </a:solidFill>
                <a:latin typeface="Aptos" panose="020B0004020202020204" pitchFamily="34" charset="0"/>
              </a:rPr>
              <a:t>departments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8C25BDBD-8832-4A20-9216-A28CA198F8D9}"/>
              </a:ext>
            </a:extLst>
          </p:cNvPr>
          <p:cNvSpPr txBox="1"/>
          <p:nvPr/>
        </p:nvSpPr>
        <p:spPr>
          <a:xfrm>
            <a:off x="3225800" y="4724400"/>
            <a:ext cx="16510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5B7080"/>
                </a:solidFill>
                <a:latin typeface="Aptos" panose="020B0004020202020204" pitchFamily="34" charset="0"/>
              </a:rPr>
              <a:t>Hospital-specific care units</a:t>
            </a:r>
          </a:p>
        </p:txBody>
      </p:sp>
      <p:sp>
        <p:nvSpPr>
          <p:cNvPr id="35" name="box">
            <a:extLst>
              <a:ext uri="{FF2B5EF4-FFF2-40B4-BE49-F238E27FC236}">
                <a16:creationId xmlns:a16="http://schemas.microsoft.com/office/drawing/2014/main" id="{CC9EAE0C-CF83-D612-945E-B036E9DA66FD}"/>
              </a:ext>
            </a:extLst>
          </p:cNvPr>
          <p:cNvSpPr/>
          <p:nvPr/>
        </p:nvSpPr>
        <p:spPr>
          <a:xfrm>
            <a:off x="5969000" y="4343400"/>
            <a:ext cx="2159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B7571181-54CD-4EC0-D80F-6294A7053915}"/>
              </a:ext>
            </a:extLst>
          </p:cNvPr>
          <p:cNvSpPr txBox="1"/>
          <p:nvPr/>
        </p:nvSpPr>
        <p:spPr>
          <a:xfrm>
            <a:off x="6096000" y="44577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0B2545"/>
                </a:solidFill>
                <a:latin typeface="Aptos" panose="020B0004020202020204" pitchFamily="34" charset="0"/>
              </a:rPr>
              <a:t>chat conversations</a:t>
            </a:r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DDA993DF-929F-EE16-2D20-81D63D9D3E06}"/>
              </a:ext>
            </a:extLst>
          </p:cNvPr>
          <p:cNvSpPr txBox="1"/>
          <p:nvPr/>
        </p:nvSpPr>
        <p:spPr>
          <a:xfrm>
            <a:off x="6096000" y="4724400"/>
            <a:ext cx="1905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5B7080"/>
                </a:solidFill>
                <a:latin typeface="Aptos" panose="020B0004020202020204" pitchFamily="34" charset="0"/>
              </a:rPr>
              <a:t>Doctor-patient communication</a:t>
            </a:r>
          </a:p>
        </p:txBody>
      </p:sp>
      <p:sp>
        <p:nvSpPr>
          <p:cNvPr id="38" name="box">
            <a:extLst>
              <a:ext uri="{FF2B5EF4-FFF2-40B4-BE49-F238E27FC236}">
                <a16:creationId xmlns:a16="http://schemas.microsoft.com/office/drawing/2014/main" id="{C1F77537-7CB1-A858-F4B4-DD01970EF6C2}"/>
              </a:ext>
            </a:extLst>
          </p:cNvPr>
          <p:cNvSpPr/>
          <p:nvPr/>
        </p:nvSpPr>
        <p:spPr>
          <a:xfrm>
            <a:off x="533400" y="1905000"/>
            <a:ext cx="1676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806D9EEF-F8DA-439C-FD4B-9225DC4F9CD4}"/>
              </a:ext>
            </a:extLst>
          </p:cNvPr>
          <p:cNvSpPr txBox="1"/>
          <p:nvPr/>
        </p:nvSpPr>
        <p:spPr>
          <a:xfrm>
            <a:off x="660400" y="20193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0B2545"/>
                </a:solidFill>
                <a:latin typeface="Aptos" panose="020B0004020202020204" pitchFamily="34" charset="0"/>
              </a:rPr>
              <a:t>users</a:t>
            </a:r>
          </a:p>
        </p:txBody>
      </p:sp>
      <p:sp>
        <p:nvSpPr>
          <p:cNvPr id="40" name="text">
            <a:extLst>
              <a:ext uri="{FF2B5EF4-FFF2-40B4-BE49-F238E27FC236}">
                <a16:creationId xmlns:a16="http://schemas.microsoft.com/office/drawing/2014/main" id="{1419745E-AC7C-8577-CC22-D8A749A2B728}"/>
              </a:ext>
            </a:extLst>
          </p:cNvPr>
          <p:cNvSpPr txBox="1"/>
          <p:nvPr/>
        </p:nvSpPr>
        <p:spPr>
          <a:xfrm>
            <a:off x="660400" y="2286000"/>
            <a:ext cx="14224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5B7080"/>
                </a:solidFill>
                <a:latin typeface="Aptos" panose="020B0004020202020204" pitchFamily="34" charset="0"/>
              </a:rPr>
              <a:t>Role, status, hospital scope</a:t>
            </a:r>
          </a:p>
        </p:txBody>
      </p:sp>
      <p:sp>
        <p:nvSpPr>
          <p:cNvPr id="41" name="box">
            <a:extLst>
              <a:ext uri="{FF2B5EF4-FFF2-40B4-BE49-F238E27FC236}">
                <a16:creationId xmlns:a16="http://schemas.microsoft.com/office/drawing/2014/main" id="{86841125-5FB1-2491-1A13-13B2F17C591B}"/>
              </a:ext>
            </a:extLst>
          </p:cNvPr>
          <p:cNvSpPr/>
          <p:nvPr/>
        </p:nvSpPr>
        <p:spPr>
          <a:xfrm>
            <a:off x="533400" y="3124200"/>
            <a:ext cx="1676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A2C30676-12BA-41E4-8692-2010E530E380}"/>
              </a:ext>
            </a:extLst>
          </p:cNvPr>
          <p:cNvSpPr txBox="1"/>
          <p:nvPr/>
        </p:nvSpPr>
        <p:spPr>
          <a:xfrm>
            <a:off x="660400" y="32385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0B2545"/>
                </a:solidFill>
                <a:latin typeface="Aptos" panose="020B0004020202020204" pitchFamily="34" charset="0"/>
              </a:rPr>
              <a:t>patients</a:t>
            </a:r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735C15B2-2847-CB12-5A1A-0A51FB33BB2D}"/>
              </a:ext>
            </a:extLst>
          </p:cNvPr>
          <p:cNvSpPr txBox="1"/>
          <p:nvPr/>
        </p:nvSpPr>
        <p:spPr>
          <a:xfrm>
            <a:off x="660400" y="3505200"/>
            <a:ext cx="14224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5B7080"/>
                </a:solidFill>
                <a:latin typeface="Aptos" panose="020B0004020202020204" pitchFamily="34" charset="0"/>
              </a:rPr>
              <a:t>Application patient identity</a:t>
            </a:r>
          </a:p>
        </p:txBody>
      </p:sp>
      <p:sp>
        <p:nvSpPr>
          <p:cNvPr id="44" name="box">
            <a:extLst>
              <a:ext uri="{FF2B5EF4-FFF2-40B4-BE49-F238E27FC236}">
                <a16:creationId xmlns:a16="http://schemas.microsoft.com/office/drawing/2014/main" id="{779456BD-91E9-315D-87B1-74544FCD3E3D}"/>
              </a:ext>
            </a:extLst>
          </p:cNvPr>
          <p:cNvSpPr/>
          <p:nvPr/>
        </p:nvSpPr>
        <p:spPr>
          <a:xfrm>
            <a:off x="3098800" y="1905000"/>
            <a:ext cx="1905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">
            <a:extLst>
              <a:ext uri="{FF2B5EF4-FFF2-40B4-BE49-F238E27FC236}">
                <a16:creationId xmlns:a16="http://schemas.microsoft.com/office/drawing/2014/main" id="{E7695804-1A2B-30EA-9B2D-9CD4174695E4}"/>
              </a:ext>
            </a:extLst>
          </p:cNvPr>
          <p:cNvSpPr txBox="1"/>
          <p:nvPr/>
        </p:nvSpPr>
        <p:spPr>
          <a:xfrm>
            <a:off x="3225800" y="20193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0B2545"/>
                </a:solidFill>
                <a:latin typeface="Aptos" panose="020B0004020202020204" pitchFamily="34" charset="0"/>
              </a:rPr>
              <a:t>hospitals</a:t>
            </a:r>
          </a:p>
        </p:txBody>
      </p:sp>
      <p:sp>
        <p:nvSpPr>
          <p:cNvPr id="46" name="text">
            <a:extLst>
              <a:ext uri="{FF2B5EF4-FFF2-40B4-BE49-F238E27FC236}">
                <a16:creationId xmlns:a16="http://schemas.microsoft.com/office/drawing/2014/main" id="{C1611E29-3B10-3684-4D91-05867126184F}"/>
              </a:ext>
            </a:extLst>
          </p:cNvPr>
          <p:cNvSpPr txBox="1"/>
          <p:nvPr/>
        </p:nvSpPr>
        <p:spPr>
          <a:xfrm>
            <a:off x="3225800" y="2286000"/>
            <a:ext cx="16510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5B7080"/>
                </a:solidFill>
                <a:latin typeface="Aptos" panose="020B0004020202020204" pitchFamily="34" charset="0"/>
              </a:rPr>
              <a:t>Verified directory and operations</a:t>
            </a:r>
          </a:p>
        </p:txBody>
      </p:sp>
      <p:sp>
        <p:nvSpPr>
          <p:cNvPr id="47" name="box">
            <a:extLst>
              <a:ext uri="{FF2B5EF4-FFF2-40B4-BE49-F238E27FC236}">
                <a16:creationId xmlns:a16="http://schemas.microsoft.com/office/drawing/2014/main" id="{060352D5-740B-2768-C7C9-F3B0760C5A70}"/>
              </a:ext>
            </a:extLst>
          </p:cNvPr>
          <p:cNvSpPr/>
          <p:nvPr/>
        </p:nvSpPr>
        <p:spPr>
          <a:xfrm>
            <a:off x="533400" y="4343400"/>
            <a:ext cx="1676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">
            <a:extLst>
              <a:ext uri="{FF2B5EF4-FFF2-40B4-BE49-F238E27FC236}">
                <a16:creationId xmlns:a16="http://schemas.microsoft.com/office/drawing/2014/main" id="{4C1CC5C7-504A-AB8B-D347-3A363F56B36C}"/>
              </a:ext>
            </a:extLst>
          </p:cNvPr>
          <p:cNvSpPr txBox="1"/>
          <p:nvPr/>
        </p:nvSpPr>
        <p:spPr>
          <a:xfrm>
            <a:off x="660400" y="44577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0B2545"/>
                </a:solidFill>
                <a:latin typeface="Aptos" panose="020B0004020202020204" pitchFamily="34" charset="0"/>
              </a:rPr>
              <a:t>doctors</a:t>
            </a:r>
          </a:p>
        </p:txBody>
      </p:sp>
      <p:sp>
        <p:nvSpPr>
          <p:cNvPr id="49" name="text">
            <a:extLst>
              <a:ext uri="{FF2B5EF4-FFF2-40B4-BE49-F238E27FC236}">
                <a16:creationId xmlns:a16="http://schemas.microsoft.com/office/drawing/2014/main" id="{2EFECD5E-D2CA-2FDC-DA43-5106BBD89291}"/>
              </a:ext>
            </a:extLst>
          </p:cNvPr>
          <p:cNvSpPr txBox="1"/>
          <p:nvPr/>
        </p:nvSpPr>
        <p:spPr>
          <a:xfrm>
            <a:off x="660400" y="4724400"/>
            <a:ext cx="14224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5B7080"/>
                </a:solidFill>
                <a:latin typeface="Aptos" panose="020B0004020202020204" pitchFamily="34" charset="0"/>
              </a:rPr>
              <a:t>Clinician identity and profile</a:t>
            </a:r>
          </a:p>
        </p:txBody>
      </p:sp>
      <p:sp>
        <p:nvSpPr>
          <p:cNvPr id="50" name="box">
            <a:extLst>
              <a:ext uri="{FF2B5EF4-FFF2-40B4-BE49-F238E27FC236}">
                <a16:creationId xmlns:a16="http://schemas.microsoft.com/office/drawing/2014/main" id="{548AB13B-64E4-3C97-2B3F-014C63C1591D}"/>
              </a:ext>
            </a:extLst>
          </p:cNvPr>
          <p:cNvSpPr/>
          <p:nvPr/>
        </p:nvSpPr>
        <p:spPr>
          <a:xfrm>
            <a:off x="5969000" y="1905000"/>
            <a:ext cx="2159000" cy="685800"/>
          </a:xfrm>
          <a:prstGeom prst="roundRect">
            <a:avLst/>
          </a:prstGeom>
          <a:solidFill>
            <a:srgbClr val="E4F7F4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">
            <a:extLst>
              <a:ext uri="{FF2B5EF4-FFF2-40B4-BE49-F238E27FC236}">
                <a16:creationId xmlns:a16="http://schemas.microsoft.com/office/drawing/2014/main" id="{38F7CB71-1E43-60EC-565C-BCDFD1040729}"/>
              </a:ext>
            </a:extLst>
          </p:cNvPr>
          <p:cNvSpPr txBox="1"/>
          <p:nvPr/>
        </p:nvSpPr>
        <p:spPr>
          <a:xfrm>
            <a:off x="6096000" y="20193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0B2545"/>
                </a:solidFill>
                <a:latin typeface="Aptos" panose="020B0004020202020204" pitchFamily="34" charset="0"/>
              </a:rPr>
              <a:t>care relationships</a:t>
            </a:r>
          </a:p>
        </p:txBody>
      </p:sp>
      <p:sp>
        <p:nvSpPr>
          <p:cNvPr id="52" name="text">
            <a:extLst>
              <a:ext uri="{FF2B5EF4-FFF2-40B4-BE49-F238E27FC236}">
                <a16:creationId xmlns:a16="http://schemas.microsoft.com/office/drawing/2014/main" id="{BE60E8FB-50A9-A5EC-B91D-0D47DEE6E42B}"/>
              </a:ext>
            </a:extLst>
          </p:cNvPr>
          <p:cNvSpPr txBox="1"/>
          <p:nvPr/>
        </p:nvSpPr>
        <p:spPr>
          <a:xfrm>
            <a:off x="6096000" y="2286000"/>
            <a:ext cx="1905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5B7080"/>
                </a:solidFill>
                <a:latin typeface="Aptos" panose="020B0004020202020204" pitchFamily="34" charset="0"/>
              </a:rPr>
              <a:t>Purpose, scope, status, expiry</a:t>
            </a:r>
          </a:p>
        </p:txBody>
      </p:sp>
      <p:sp>
        <p:nvSpPr>
          <p:cNvPr id="53" name="box">
            <a:extLst>
              <a:ext uri="{FF2B5EF4-FFF2-40B4-BE49-F238E27FC236}">
                <a16:creationId xmlns:a16="http://schemas.microsoft.com/office/drawing/2014/main" id="{D5C3145C-356A-7AAB-B6EC-2B5767BCEFE4}"/>
              </a:ext>
            </a:extLst>
          </p:cNvPr>
          <p:cNvSpPr/>
          <p:nvPr/>
        </p:nvSpPr>
        <p:spPr>
          <a:xfrm>
            <a:off x="9093200" y="4343400"/>
            <a:ext cx="25654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">
            <a:extLst>
              <a:ext uri="{FF2B5EF4-FFF2-40B4-BE49-F238E27FC236}">
                <a16:creationId xmlns:a16="http://schemas.microsoft.com/office/drawing/2014/main" id="{3AEE220B-C87B-675A-2CAB-0B721C945949}"/>
              </a:ext>
            </a:extLst>
          </p:cNvPr>
          <p:cNvSpPr txBox="1"/>
          <p:nvPr/>
        </p:nvSpPr>
        <p:spPr>
          <a:xfrm>
            <a:off x="9220200" y="4457700"/>
            <a:ext cx="231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0B2545"/>
                </a:solidFill>
                <a:latin typeface="Aptos" panose="020B0004020202020204" pitchFamily="34" charset="0"/>
              </a:rPr>
              <a:t>lab requests / results</a:t>
            </a:r>
          </a:p>
        </p:txBody>
      </p:sp>
      <p:sp>
        <p:nvSpPr>
          <p:cNvPr id="55" name="text">
            <a:extLst>
              <a:ext uri="{FF2B5EF4-FFF2-40B4-BE49-F238E27FC236}">
                <a16:creationId xmlns:a16="http://schemas.microsoft.com/office/drawing/2014/main" id="{C4514805-080C-9EBD-5792-7843BA231D35}"/>
              </a:ext>
            </a:extLst>
          </p:cNvPr>
          <p:cNvSpPr txBox="1"/>
          <p:nvPr/>
        </p:nvSpPr>
        <p:spPr>
          <a:xfrm>
            <a:off x="9220200" y="4724400"/>
            <a:ext cx="23114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5B7080"/>
                </a:solidFill>
                <a:latin typeface="Aptos" panose="020B0004020202020204" pitchFamily="34" charset="0"/>
              </a:rPr>
              <a:t>Order, upload, analysis, review</a:t>
            </a:r>
          </a:p>
        </p:txBody>
      </p:sp>
      <p:sp>
        <p:nvSpPr>
          <p:cNvPr id="56" name="text">
            <a:extLst>
              <a:ext uri="{FF2B5EF4-FFF2-40B4-BE49-F238E27FC236}">
                <a16:creationId xmlns:a16="http://schemas.microsoft.com/office/drawing/2014/main" id="{03FD1FE5-6F06-1E24-9EEB-B642E5289CD4}"/>
              </a:ext>
            </a:extLst>
          </p:cNvPr>
          <p:cNvSpPr txBox="1"/>
          <p:nvPr/>
        </p:nvSpPr>
        <p:spPr>
          <a:xfrm>
            <a:off x="533400" y="57658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008B8B"/>
                </a:solidFill>
                <a:latin typeface="Aptos" panose="020B0004020202020204" pitchFamily="34" charset="0"/>
              </a:rPr>
              <a:t>Full field-level Mermaid ERD: docs/defense/database_erd.mmd</a:t>
            </a:r>
          </a:p>
        </p:txBody>
      </p:sp>
      <p:sp>
        <p:nvSpPr>
          <p:cNvPr id="57" name="text">
            <a:extLst>
              <a:ext uri="{FF2B5EF4-FFF2-40B4-BE49-F238E27FC236}">
                <a16:creationId xmlns:a16="http://schemas.microsoft.com/office/drawing/2014/main" id="{84192A99-F253-144F-8785-74A1088C5AAC}"/>
              </a:ext>
            </a:extLst>
          </p:cNvPr>
          <p:cNvSpPr txBox="1"/>
          <p:nvPr/>
        </p:nvSpPr>
        <p:spPr>
          <a:xfrm>
            <a:off x="533400" y="6121400"/>
            <a:ext cx="11125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RLS policies, grants, triggers, functions, indexes, audit logs, and private Storage policies complete the physical design.</a:t>
            </a:r>
          </a:p>
        </p:txBody>
      </p:sp>
    </p:spTree>
    <p:extLst>
      <p:ext uri="{BB962C8B-B14F-4D97-AF65-F5344CB8AC3E}">
        <p14:creationId xmlns:p14="http://schemas.microsoft.com/office/powerpoint/2010/main" val="82031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66BD7ED5-8DBD-6828-624C-47C649CEDB02}"/>
              </a:ext>
            </a:extLst>
          </p:cNvPr>
          <p:cNvSpPr txBox="1"/>
          <p:nvPr/>
        </p:nvSpPr>
        <p:spPr>
          <a:xfrm>
            <a:off x="533400" y="304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008B8B"/>
                </a:solidFill>
                <a:latin typeface="Aptos" panose="020B0004020202020204" pitchFamily="34" charset="0"/>
              </a:rPr>
              <a:t>SYSTEM DEFENSE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C878968C-459E-72B0-A614-0F3CDFF2B545}"/>
              </a:ext>
            </a:extLst>
          </p:cNvPr>
          <p:cNvSpPr txBox="1"/>
          <p:nvPr/>
        </p:nvSpPr>
        <p:spPr>
          <a:xfrm>
            <a:off x="533400" y="6096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Security is enforced below the interface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FB4B09A-90E1-9482-D44A-292EA9F24508}"/>
              </a:ext>
            </a:extLst>
          </p:cNvPr>
          <p:cNvCxnSpPr/>
          <p:nvPr/>
        </p:nvCxnSpPr>
        <p:spPr>
          <a:xfrm>
            <a:off x="533400" y="1358900"/>
            <a:ext cx="111252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number">
            <a:extLst>
              <a:ext uri="{FF2B5EF4-FFF2-40B4-BE49-F238E27FC236}">
                <a16:creationId xmlns:a16="http://schemas.microsoft.com/office/drawing/2014/main" id="{16F8A468-D53D-3D30-946A-9E1D57057FBB}"/>
              </a:ext>
            </a:extLst>
          </p:cNvPr>
          <p:cNvSpPr txBox="1"/>
          <p:nvPr/>
        </p:nvSpPr>
        <p:spPr>
          <a:xfrm>
            <a:off x="11430000" y="6477000"/>
            <a:ext cx="22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900">
                <a:solidFill>
                  <a:srgbClr val="5B7080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864FD32-7EC2-92EA-B1F0-B77F55717640}"/>
              </a:ext>
            </a:extLst>
          </p:cNvPr>
          <p:cNvSpPr txBox="1"/>
          <p:nvPr/>
        </p:nvSpPr>
        <p:spPr>
          <a:xfrm>
            <a:off x="533400" y="1625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5B7080"/>
                </a:solidFill>
                <a:latin typeface="Aptos" panose="020B0004020202020204" pitchFamily="34" charset="0"/>
              </a:rPr>
              <a:t>The UI improves usability. It is not the authorization boundary.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4497A58F-56A5-D1BF-4AFA-EF1EB25675D1}"/>
              </a:ext>
            </a:extLst>
          </p:cNvPr>
          <p:cNvSpPr/>
          <p:nvPr/>
        </p:nvSpPr>
        <p:spPr>
          <a:xfrm>
            <a:off x="533400" y="2260600"/>
            <a:ext cx="11125200" cy="711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06E74D5-2302-2616-16FD-11D2ADB0386C}"/>
              </a:ext>
            </a:extLst>
          </p:cNvPr>
          <p:cNvSpPr txBox="1"/>
          <p:nvPr/>
        </p:nvSpPr>
        <p:spPr>
          <a:xfrm>
            <a:off x="762000" y="2413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08B8B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C772922-D3F0-406F-C5CD-3CE47B693B2A}"/>
              </a:ext>
            </a:extLst>
          </p:cNvPr>
          <p:cNvSpPr txBox="1"/>
          <p:nvPr/>
        </p:nvSpPr>
        <p:spPr>
          <a:xfrm>
            <a:off x="1295400" y="23876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Role-aware routes and guarded actions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7D4EDB5-7F1F-13F0-C0D9-2F1670BD42E2}"/>
              </a:ext>
            </a:extLst>
          </p:cNvPr>
          <p:cNvSpPr txBox="1"/>
          <p:nvPr/>
        </p:nvSpPr>
        <p:spPr>
          <a:xfrm>
            <a:off x="5461000" y="2387600"/>
            <a:ext cx="5943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Presentation layer prevents invalid navigation and exposes clear account states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D2C321C1-2455-8B2C-8A94-7C2EFC930DEC}"/>
              </a:ext>
            </a:extLst>
          </p:cNvPr>
          <p:cNvSpPr/>
          <p:nvPr/>
        </p:nvSpPr>
        <p:spPr>
          <a:xfrm>
            <a:off x="533400" y="3098800"/>
            <a:ext cx="111252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66F5C876-A04E-6BD9-D706-990C4F27F0A5}"/>
              </a:ext>
            </a:extLst>
          </p:cNvPr>
          <p:cNvSpPr txBox="1"/>
          <p:nvPr/>
        </p:nvSpPr>
        <p:spPr>
          <a:xfrm>
            <a:off x="762000" y="32512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08B8B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2562DE0-68D1-47B9-67E1-397D38F011B5}"/>
              </a:ext>
            </a:extLst>
          </p:cNvPr>
          <p:cNvSpPr txBox="1"/>
          <p:nvPr/>
        </p:nvSpPr>
        <p:spPr>
          <a:xfrm>
            <a:off x="1295400" y="32258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Typed repository boundary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C945193-03E3-4A27-21EE-A6BA6D3F9672}"/>
              </a:ext>
            </a:extLst>
          </p:cNvPr>
          <p:cNvSpPr txBox="1"/>
          <p:nvPr/>
        </p:nvSpPr>
        <p:spPr>
          <a:xfrm>
            <a:off x="5461000" y="3225800"/>
            <a:ext cx="5943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Validation, exact IDs, controlled mutations, and explicit failure handling</a:t>
            </a:r>
          </a:p>
        </p:txBody>
      </p:sp>
      <p:sp>
        <p:nvSpPr>
          <p:cNvPr id="15" name="box">
            <a:extLst>
              <a:ext uri="{FF2B5EF4-FFF2-40B4-BE49-F238E27FC236}">
                <a16:creationId xmlns:a16="http://schemas.microsoft.com/office/drawing/2014/main" id="{460B176B-B497-AF22-40D5-F6510807A1EF}"/>
              </a:ext>
            </a:extLst>
          </p:cNvPr>
          <p:cNvSpPr/>
          <p:nvPr/>
        </p:nvSpPr>
        <p:spPr>
          <a:xfrm>
            <a:off x="533400" y="3937000"/>
            <a:ext cx="11125200" cy="711200"/>
          </a:xfrm>
          <a:prstGeom prst="roundRect">
            <a:avLst/>
          </a:prstGeom>
          <a:solidFill>
            <a:srgbClr val="E4F7F4"/>
          </a:solidFill>
          <a:ln w="12700">
            <a:solidFill>
              <a:srgbClr val="00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08ED8D6-345B-C801-3E25-4DE840CF63F0}"/>
              </a:ext>
            </a:extLst>
          </p:cNvPr>
          <p:cNvSpPr txBox="1"/>
          <p:nvPr/>
        </p:nvSpPr>
        <p:spPr>
          <a:xfrm>
            <a:off x="762000" y="40894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08B8B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DA968DD-6489-B242-4981-E8F68D587E04}"/>
              </a:ext>
            </a:extLst>
          </p:cNvPr>
          <p:cNvSpPr txBox="1"/>
          <p:nvPr/>
        </p:nvSpPr>
        <p:spPr>
          <a:xfrm>
            <a:off x="1295400" y="40640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JWT plus PostgreSQL Row Level Security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1C2AFEBD-2B68-3A7F-F77A-A092486AA361}"/>
              </a:ext>
            </a:extLst>
          </p:cNvPr>
          <p:cNvSpPr txBox="1"/>
          <p:nvPr/>
        </p:nvSpPr>
        <p:spPr>
          <a:xfrm>
            <a:off x="5461000" y="4064000"/>
            <a:ext cx="5943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Patient, doctor, hospital, relationship, and action scope are checked by the backend</a:t>
            </a:r>
          </a:p>
        </p:txBody>
      </p:sp>
      <p:sp>
        <p:nvSpPr>
          <p:cNvPr id="19" name="box">
            <a:extLst>
              <a:ext uri="{FF2B5EF4-FFF2-40B4-BE49-F238E27FC236}">
                <a16:creationId xmlns:a16="http://schemas.microsoft.com/office/drawing/2014/main" id="{45056C72-459E-D70E-1754-F03B2BFC7E71}"/>
              </a:ext>
            </a:extLst>
          </p:cNvPr>
          <p:cNvSpPr/>
          <p:nvPr/>
        </p:nvSpPr>
        <p:spPr>
          <a:xfrm>
            <a:off x="533400" y="4775200"/>
            <a:ext cx="11125200" cy="711200"/>
          </a:xfrm>
          <a:prstGeom prst="roundRect">
            <a:avLst/>
          </a:prstGeom>
          <a:solidFill>
            <a:srgbClr val="E6F1F9"/>
          </a:solidFill>
          <a:ln w="12700">
            <a:solidFill>
              <a:srgbClr val="2972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AC35EEA8-28AA-CCF8-4EB1-A62995225F41}"/>
              </a:ext>
            </a:extLst>
          </p:cNvPr>
          <p:cNvSpPr txBox="1"/>
          <p:nvPr/>
        </p:nvSpPr>
        <p:spPr>
          <a:xfrm>
            <a:off x="762000" y="49276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08B8B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073B79E0-F0BC-883C-91B5-528B1CED8523}"/>
              </a:ext>
            </a:extLst>
          </p:cNvPr>
          <p:cNvSpPr txBox="1"/>
          <p:nvPr/>
        </p:nvSpPr>
        <p:spPr>
          <a:xfrm>
            <a:off x="1295400" y="49022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Private Storage and signed URLs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70467547-78E7-728F-AA8E-0C411709EDA3}"/>
              </a:ext>
            </a:extLst>
          </p:cNvPr>
          <p:cNvSpPr txBox="1"/>
          <p:nvPr/>
        </p:nvSpPr>
        <p:spPr>
          <a:xfrm>
            <a:off x="5461000" y="4902200"/>
            <a:ext cx="594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Clinical and identity files are never permanent public assets</a:t>
            </a:r>
          </a:p>
        </p:txBody>
      </p:sp>
      <p:sp>
        <p:nvSpPr>
          <p:cNvPr id="23" name="box">
            <a:extLst>
              <a:ext uri="{FF2B5EF4-FFF2-40B4-BE49-F238E27FC236}">
                <a16:creationId xmlns:a16="http://schemas.microsoft.com/office/drawing/2014/main" id="{3B71D374-1F0C-E600-35BA-58240E55F962}"/>
              </a:ext>
            </a:extLst>
          </p:cNvPr>
          <p:cNvSpPr/>
          <p:nvPr/>
        </p:nvSpPr>
        <p:spPr>
          <a:xfrm>
            <a:off x="533400" y="5613400"/>
            <a:ext cx="11125200" cy="711200"/>
          </a:xfrm>
          <a:prstGeom prst="roundRect">
            <a:avLst/>
          </a:prstGeom>
          <a:solidFill>
            <a:srgbClr val="FFF5DA"/>
          </a:solidFill>
          <a:ln w="12700">
            <a:solidFill>
              <a:srgbClr val="A66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E6CF9118-F749-C510-4072-B87AC88D54E6}"/>
              </a:ext>
            </a:extLst>
          </p:cNvPr>
          <p:cNvSpPr txBox="1"/>
          <p:nvPr/>
        </p:nvSpPr>
        <p:spPr>
          <a:xfrm>
            <a:off x="762000" y="57658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08B8B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23F24DB6-6EB3-6AC1-BA09-80F1797D0F56}"/>
              </a:ext>
            </a:extLst>
          </p:cNvPr>
          <p:cNvSpPr txBox="1"/>
          <p:nvPr/>
        </p:nvSpPr>
        <p:spPr>
          <a:xfrm>
            <a:off x="1295400" y="5740400"/>
            <a:ext cx="4064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Constraints, triggers, audits, and server-only secrets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F74DE175-A928-1720-2ED7-81FE607323C1}"/>
              </a:ext>
            </a:extLst>
          </p:cNvPr>
          <p:cNvSpPr txBox="1"/>
          <p:nvPr/>
        </p:nvSpPr>
        <p:spPr>
          <a:xfrm>
            <a:off x="5461000" y="5740400"/>
            <a:ext cx="5943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Clinical invariants and privileged operations remain observable and accountable</a:t>
            </a:r>
          </a:p>
        </p:txBody>
      </p:sp>
    </p:spTree>
    <p:extLst>
      <p:ext uri="{BB962C8B-B14F-4D97-AF65-F5344CB8AC3E}">
        <p14:creationId xmlns:p14="http://schemas.microsoft.com/office/powerpoint/2010/main" val="2550219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71121D1D-0ED0-F43C-5C35-527662888747}"/>
              </a:ext>
            </a:extLst>
          </p:cNvPr>
          <p:cNvSpPr txBox="1"/>
          <p:nvPr/>
        </p:nvSpPr>
        <p:spPr>
          <a:xfrm>
            <a:off x="533400" y="304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008B8B"/>
                </a:solidFill>
                <a:latin typeface="Aptos" panose="020B0004020202020204" pitchFamily="34" charset="0"/>
              </a:rPr>
              <a:t>SYSTEM DEFENSE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A44EFC7A-07C7-BB4F-6C09-222613E9B323}"/>
              </a:ext>
            </a:extLst>
          </p:cNvPr>
          <p:cNvSpPr txBox="1"/>
          <p:nvPr/>
        </p:nvSpPr>
        <p:spPr>
          <a:xfrm>
            <a:off x="533400" y="6096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Implemented screens span care and operations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6A3A863-8EC9-90FB-2AB7-A6F347A718A4}"/>
              </a:ext>
            </a:extLst>
          </p:cNvPr>
          <p:cNvCxnSpPr/>
          <p:nvPr/>
        </p:nvCxnSpPr>
        <p:spPr>
          <a:xfrm>
            <a:off x="533400" y="1358900"/>
            <a:ext cx="111252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number">
            <a:extLst>
              <a:ext uri="{FF2B5EF4-FFF2-40B4-BE49-F238E27FC236}">
                <a16:creationId xmlns:a16="http://schemas.microsoft.com/office/drawing/2014/main" id="{F1B3ECDA-1D96-5352-682C-FB316E5B6D48}"/>
              </a:ext>
            </a:extLst>
          </p:cNvPr>
          <p:cNvSpPr txBox="1"/>
          <p:nvPr/>
        </p:nvSpPr>
        <p:spPr>
          <a:xfrm>
            <a:off x="11430000" y="6477000"/>
            <a:ext cx="228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900">
                <a:solidFill>
                  <a:srgbClr val="5B7080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949B8F13-C22A-01A0-5366-93AA53B844DF}"/>
              </a:ext>
            </a:extLst>
          </p:cNvPr>
          <p:cNvSpPr/>
          <p:nvPr/>
        </p:nvSpPr>
        <p:spPr>
          <a:xfrm>
            <a:off x="533400" y="1778000"/>
            <a:ext cx="3505200" cy="37846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">
            <a:extLst>
              <a:ext uri="{FF2B5EF4-FFF2-40B4-BE49-F238E27FC236}">
                <a16:creationId xmlns:a16="http://schemas.microsoft.com/office/drawing/2014/main" id="{F6F443AF-5F2F-0D4C-B57C-3ED6CF14F5F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2341623"/>
            <a:ext cx="3251200" cy="1463554"/>
          </a:xfrm>
          <a:prstGeom prst="rect">
            <a:avLst/>
          </a:prstGeom>
        </p:spPr>
      </p:pic>
      <p:sp>
        <p:nvSpPr>
          <p:cNvPr id="9" name="text">
            <a:extLst>
              <a:ext uri="{FF2B5EF4-FFF2-40B4-BE49-F238E27FC236}">
                <a16:creationId xmlns:a16="http://schemas.microsoft.com/office/drawing/2014/main" id="{88A08EAC-4E2C-0268-CFB8-3E63162082CE}"/>
              </a:ext>
            </a:extLst>
          </p:cNvPr>
          <p:cNvSpPr txBox="1"/>
          <p:nvPr/>
        </p:nvSpPr>
        <p:spPr>
          <a:xfrm>
            <a:off x="711200" y="44450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Care assistant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ECDE6C1-5C06-39BB-5C9D-8AFCE4EF7165}"/>
              </a:ext>
            </a:extLst>
          </p:cNvPr>
          <p:cNvSpPr txBox="1"/>
          <p:nvPr/>
        </p:nvSpPr>
        <p:spPr>
          <a:xfrm>
            <a:off x="711200" y="4851400"/>
            <a:ext cx="3149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Safety-aware guidance with facility context</a:t>
            </a:r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7E21194C-BF1B-1E1A-C2D4-20747FA852ED}"/>
              </a:ext>
            </a:extLst>
          </p:cNvPr>
          <p:cNvSpPr/>
          <p:nvPr/>
        </p:nvSpPr>
        <p:spPr>
          <a:xfrm>
            <a:off x="4343400" y="1778000"/>
            <a:ext cx="3505200" cy="37846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">
            <a:extLst>
              <a:ext uri="{FF2B5EF4-FFF2-40B4-BE49-F238E27FC236}">
                <a16:creationId xmlns:a16="http://schemas.microsoft.com/office/drawing/2014/main" id="{50AFB96F-1C00-7B22-B48E-73C930A2FC2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00" y="1944511"/>
            <a:ext cx="3251200" cy="2257778"/>
          </a:xfrm>
          <a:prstGeom prst="rect">
            <a:avLst/>
          </a:prstGeom>
        </p:spPr>
      </p:pic>
      <p:sp>
        <p:nvSpPr>
          <p:cNvPr id="14" name="text">
            <a:extLst>
              <a:ext uri="{FF2B5EF4-FFF2-40B4-BE49-F238E27FC236}">
                <a16:creationId xmlns:a16="http://schemas.microsoft.com/office/drawing/2014/main" id="{7C338F5A-F642-44EF-B231-86C7C1D8EAE2}"/>
              </a:ext>
            </a:extLst>
          </p:cNvPr>
          <p:cNvSpPr txBox="1"/>
          <p:nvPr/>
        </p:nvSpPr>
        <p:spPr>
          <a:xfrm>
            <a:off x="4521200" y="44450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Doctor prescription workflow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7F86DF0D-2480-1742-E505-7270A8651A5D}"/>
              </a:ext>
            </a:extLst>
          </p:cNvPr>
          <p:cNvSpPr txBox="1"/>
          <p:nvPr/>
        </p:nvSpPr>
        <p:spPr>
          <a:xfrm>
            <a:off x="4521200" y="4851400"/>
            <a:ext cx="3149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Reviewable structured medication orders</a:t>
            </a:r>
          </a:p>
        </p:txBody>
      </p:sp>
      <p:sp>
        <p:nvSpPr>
          <p:cNvPr id="16" name="box">
            <a:extLst>
              <a:ext uri="{FF2B5EF4-FFF2-40B4-BE49-F238E27FC236}">
                <a16:creationId xmlns:a16="http://schemas.microsoft.com/office/drawing/2014/main" id="{F0D80D2C-DFDB-1FE4-E711-085F4F224290}"/>
              </a:ext>
            </a:extLst>
          </p:cNvPr>
          <p:cNvSpPr/>
          <p:nvPr/>
        </p:nvSpPr>
        <p:spPr>
          <a:xfrm>
            <a:off x="8153400" y="1778000"/>
            <a:ext cx="3505200" cy="37846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">
            <a:extLst>
              <a:ext uri="{FF2B5EF4-FFF2-40B4-BE49-F238E27FC236}">
                <a16:creationId xmlns:a16="http://schemas.microsoft.com/office/drawing/2014/main" id="{6B8EDFFD-DDB3-48BC-3B26-F0C031B17A7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00" y="1944511"/>
            <a:ext cx="3251200" cy="2257778"/>
          </a:xfrm>
          <a:prstGeom prst="rect">
            <a:avLst/>
          </a:prstGeom>
        </p:spPr>
      </p:pic>
      <p:sp>
        <p:nvSpPr>
          <p:cNvPr id="19" name="text">
            <a:extLst>
              <a:ext uri="{FF2B5EF4-FFF2-40B4-BE49-F238E27FC236}">
                <a16:creationId xmlns:a16="http://schemas.microsoft.com/office/drawing/2014/main" id="{C79F34B5-0E52-9324-36CF-5A7A6513C809}"/>
              </a:ext>
            </a:extLst>
          </p:cNvPr>
          <p:cNvSpPr txBox="1"/>
          <p:nvPr/>
        </p:nvSpPr>
        <p:spPr>
          <a:xfrm>
            <a:off x="8331200" y="44450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0B2545"/>
                </a:solidFill>
                <a:latin typeface="Aptos" panose="020B0004020202020204" pitchFamily="34" charset="0"/>
              </a:rPr>
              <a:t>Hospital operations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E5875A2-5D38-4A1B-4655-6CFE216EB13E}"/>
              </a:ext>
            </a:extLst>
          </p:cNvPr>
          <p:cNvSpPr txBox="1"/>
          <p:nvPr/>
        </p:nvSpPr>
        <p:spPr>
          <a:xfrm>
            <a:off x="8331200" y="4851400"/>
            <a:ext cx="3149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B7080"/>
                </a:solidFill>
                <a:latin typeface="Aptos" panose="020B0004020202020204" pitchFamily="34" charset="0"/>
              </a:rPr>
              <a:t>Connected availability and capacity controls</a:t>
            </a:r>
          </a:p>
        </p:txBody>
      </p:sp>
    </p:spTree>
    <p:extLst>
      <p:ext uri="{BB962C8B-B14F-4D97-AF65-F5344CB8AC3E}">
        <p14:creationId xmlns:p14="http://schemas.microsoft.com/office/powerpoint/2010/main" val="2081886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AB941A07-5B2A-A6D2-9C3D-1A509700E0D8}"/>
              </a:ext>
            </a:extLst>
          </p:cNvPr>
          <p:cNvSpPr txBox="1"/>
          <p:nvPr/>
        </p:nvSpPr>
        <p:spPr>
          <a:xfrm>
            <a:off x="533400" y="304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008B8B"/>
                </a:solidFill>
                <a:latin typeface="Aptos" panose="020B0004020202020204" pitchFamily="34" charset="0"/>
              </a:rPr>
              <a:t>SYSTEM DEFENSE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8507C9C-7622-7F9E-C2EE-FCD59FC949B2}"/>
              </a:ext>
            </a:extLst>
          </p:cNvPr>
          <p:cNvSpPr txBox="1"/>
          <p:nvPr/>
        </p:nvSpPr>
        <p:spPr>
          <a:xfrm>
            <a:off x="533400" y="6096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Current build evidence is strong - but not fully green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BE5C068-50FF-7841-A3E9-29D6AA3E085C}"/>
              </a:ext>
            </a:extLst>
          </p:cNvPr>
          <p:cNvCxnSpPr/>
          <p:nvPr/>
        </p:nvCxnSpPr>
        <p:spPr>
          <a:xfrm>
            <a:off x="533400" y="1358900"/>
            <a:ext cx="111252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number">
            <a:extLst>
              <a:ext uri="{FF2B5EF4-FFF2-40B4-BE49-F238E27FC236}">
                <a16:creationId xmlns:a16="http://schemas.microsoft.com/office/drawing/2014/main" id="{288EA3B9-93F4-9606-BA16-4C158442F936}"/>
              </a:ext>
            </a:extLst>
          </p:cNvPr>
          <p:cNvSpPr txBox="1"/>
          <p:nvPr/>
        </p:nvSpPr>
        <p:spPr>
          <a:xfrm>
            <a:off x="11430000" y="6477000"/>
            <a:ext cx="228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900">
                <a:solidFill>
                  <a:srgbClr val="5B7080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3972E07-C7C2-479B-DEA7-5F04AA9F8F26}"/>
              </a:ext>
            </a:extLst>
          </p:cNvPr>
          <p:cNvSpPr txBox="1"/>
          <p:nvPr/>
        </p:nvSpPr>
        <p:spPr>
          <a:xfrm>
            <a:off x="533400" y="16002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B7080"/>
                </a:solidFill>
                <a:latin typeface="Aptos" panose="020B0004020202020204" pitchFamily="34" charset="0"/>
              </a:rPr>
              <a:t>Verified locally on 02 September 2026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989C32C0-D4D2-DE21-7741-B9D935079FF4}"/>
              </a:ext>
            </a:extLst>
          </p:cNvPr>
          <p:cNvSpPr/>
          <p:nvPr/>
        </p:nvSpPr>
        <p:spPr>
          <a:xfrm>
            <a:off x="533400" y="2159000"/>
            <a:ext cx="2590800" cy="1676400"/>
          </a:xfrm>
          <a:prstGeom prst="roundRect">
            <a:avLst/>
          </a:prstGeom>
          <a:solidFill>
            <a:srgbClr val="E4F7F4"/>
          </a:solidFill>
          <a:ln w="12700">
            <a:solidFill>
              <a:srgbClr val="2185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2AB0852-BF91-564B-39F9-7DD7304C4F25}"/>
              </a:ext>
            </a:extLst>
          </p:cNvPr>
          <p:cNvSpPr txBox="1"/>
          <p:nvPr/>
        </p:nvSpPr>
        <p:spPr>
          <a:xfrm>
            <a:off x="762000" y="2413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B3480B9-254C-E586-7C07-2D17A4C2DFF2}"/>
              </a:ext>
            </a:extLst>
          </p:cNvPr>
          <p:cNvSpPr txBox="1"/>
          <p:nvPr/>
        </p:nvSpPr>
        <p:spPr>
          <a:xfrm>
            <a:off x="762000" y="3175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B7080"/>
                </a:solidFill>
                <a:latin typeface="Aptos" panose="020B0004020202020204" pitchFamily="34" charset="0"/>
              </a:rPr>
              <a:t>analyzer issues</a:t>
            </a:r>
          </a:p>
        </p:txBody>
      </p:sp>
      <p:sp>
        <p:nvSpPr>
          <p:cNvPr id="10" name="box">
            <a:extLst>
              <a:ext uri="{FF2B5EF4-FFF2-40B4-BE49-F238E27FC236}">
                <a16:creationId xmlns:a16="http://schemas.microsoft.com/office/drawing/2014/main" id="{0657CAB1-3215-FD2B-AAA8-C3A054975650}"/>
              </a:ext>
            </a:extLst>
          </p:cNvPr>
          <p:cNvSpPr/>
          <p:nvPr/>
        </p:nvSpPr>
        <p:spPr>
          <a:xfrm>
            <a:off x="3378200" y="2159000"/>
            <a:ext cx="2590800" cy="1676400"/>
          </a:xfrm>
          <a:prstGeom prst="roundRect">
            <a:avLst/>
          </a:prstGeom>
          <a:solidFill>
            <a:srgbClr val="E6F1F9"/>
          </a:solidFill>
          <a:ln w="12700">
            <a:solidFill>
              <a:srgbClr val="2972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D20732CB-F36C-0C88-5B47-C3497CB28AE1}"/>
              </a:ext>
            </a:extLst>
          </p:cNvPr>
          <p:cNvSpPr txBox="1"/>
          <p:nvPr/>
        </p:nvSpPr>
        <p:spPr>
          <a:xfrm>
            <a:off x="3606800" y="2413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243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2529BE69-5486-D1D3-BDEA-7CAA51C7D7E9}"/>
              </a:ext>
            </a:extLst>
          </p:cNvPr>
          <p:cNvSpPr txBox="1"/>
          <p:nvPr/>
        </p:nvSpPr>
        <p:spPr>
          <a:xfrm>
            <a:off x="3606800" y="3175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B7080"/>
                </a:solidFill>
                <a:latin typeface="Aptos" panose="020B0004020202020204" pitchFamily="34" charset="0"/>
              </a:rPr>
              <a:t>tests passed</a:t>
            </a:r>
          </a:p>
        </p:txBody>
      </p:sp>
      <p:sp>
        <p:nvSpPr>
          <p:cNvPr id="13" name="box">
            <a:extLst>
              <a:ext uri="{FF2B5EF4-FFF2-40B4-BE49-F238E27FC236}">
                <a16:creationId xmlns:a16="http://schemas.microsoft.com/office/drawing/2014/main" id="{7B53E5CC-6D4F-B964-10D0-0F2FF8A6C57B}"/>
              </a:ext>
            </a:extLst>
          </p:cNvPr>
          <p:cNvSpPr/>
          <p:nvPr/>
        </p:nvSpPr>
        <p:spPr>
          <a:xfrm>
            <a:off x="6223000" y="2159000"/>
            <a:ext cx="2590800" cy="1676400"/>
          </a:xfrm>
          <a:prstGeom prst="roundRect">
            <a:avLst/>
          </a:prstGeom>
          <a:solidFill>
            <a:srgbClr val="EDF2F5"/>
          </a:solidFill>
          <a:ln w="12700">
            <a:solidFill>
              <a:srgbClr val="5B7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3CAB42B-BF54-90A0-C223-4F86B90F3FE4}"/>
              </a:ext>
            </a:extLst>
          </p:cNvPr>
          <p:cNvSpPr txBox="1"/>
          <p:nvPr/>
        </p:nvSpPr>
        <p:spPr>
          <a:xfrm>
            <a:off x="6451600" y="2413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550E96E5-CEF9-A2D1-0730-C64A3BFE8360}"/>
              </a:ext>
            </a:extLst>
          </p:cNvPr>
          <p:cNvSpPr txBox="1"/>
          <p:nvPr/>
        </p:nvSpPr>
        <p:spPr>
          <a:xfrm>
            <a:off x="6451600" y="3175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B7080"/>
                </a:solidFill>
                <a:latin typeface="Aptos" panose="020B0004020202020204" pitchFamily="34" charset="0"/>
              </a:rPr>
              <a:t>live tests skipped</a:t>
            </a:r>
          </a:p>
        </p:txBody>
      </p:sp>
      <p:sp>
        <p:nvSpPr>
          <p:cNvPr id="16" name="box">
            <a:extLst>
              <a:ext uri="{FF2B5EF4-FFF2-40B4-BE49-F238E27FC236}">
                <a16:creationId xmlns:a16="http://schemas.microsoft.com/office/drawing/2014/main" id="{8C0B5998-E606-C406-E6EA-C3767F54AAF5}"/>
              </a:ext>
            </a:extLst>
          </p:cNvPr>
          <p:cNvSpPr/>
          <p:nvPr/>
        </p:nvSpPr>
        <p:spPr>
          <a:xfrm>
            <a:off x="9067800" y="2159000"/>
            <a:ext cx="2590800" cy="1676400"/>
          </a:xfrm>
          <a:prstGeom prst="roundRect">
            <a:avLst/>
          </a:prstGeom>
          <a:solidFill>
            <a:srgbClr val="FFF5DA"/>
          </a:solidFill>
          <a:ln w="12700">
            <a:solidFill>
              <a:srgbClr val="A66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4E442E1-DCA8-1CBE-50C0-D98C7712B660}"/>
              </a:ext>
            </a:extLst>
          </p:cNvPr>
          <p:cNvSpPr txBox="1"/>
          <p:nvPr/>
        </p:nvSpPr>
        <p:spPr>
          <a:xfrm>
            <a:off x="9296400" y="2413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63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5F114FAC-00AF-9305-FB71-079A4EC28ADE}"/>
              </a:ext>
            </a:extLst>
          </p:cNvPr>
          <p:cNvSpPr txBox="1"/>
          <p:nvPr/>
        </p:nvSpPr>
        <p:spPr>
          <a:xfrm>
            <a:off x="9296400" y="3175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B7080"/>
                </a:solidFill>
                <a:latin typeface="Aptos" panose="020B0004020202020204" pitchFamily="34" charset="0"/>
              </a:rPr>
              <a:t>migration files</a:t>
            </a:r>
          </a:p>
        </p:txBody>
      </p:sp>
      <p:sp>
        <p:nvSpPr>
          <p:cNvPr id="19" name="box">
            <a:extLst>
              <a:ext uri="{FF2B5EF4-FFF2-40B4-BE49-F238E27FC236}">
                <a16:creationId xmlns:a16="http://schemas.microsoft.com/office/drawing/2014/main" id="{814F0518-A3AC-B881-4076-4FF6182BA5F2}"/>
              </a:ext>
            </a:extLst>
          </p:cNvPr>
          <p:cNvSpPr/>
          <p:nvPr/>
        </p:nvSpPr>
        <p:spPr>
          <a:xfrm>
            <a:off x="533400" y="4292600"/>
            <a:ext cx="11125200" cy="1295400"/>
          </a:xfrm>
          <a:prstGeom prst="roundRect">
            <a:avLst/>
          </a:prstGeom>
          <a:solidFill>
            <a:srgbClr val="FFF5DA"/>
          </a:solidFill>
          <a:ln w="12700">
            <a:solidFill>
              <a:srgbClr val="A66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BE057F88-882A-F4F7-B092-F9C3639B40F4}"/>
              </a:ext>
            </a:extLst>
          </p:cNvPr>
          <p:cNvSpPr txBox="1"/>
          <p:nvPr/>
        </p:nvSpPr>
        <p:spPr>
          <a:xfrm>
            <a:off x="838200" y="4572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Visual regression status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A9E1F910-BE85-1712-CCFC-F81AD9936B17}"/>
              </a:ext>
            </a:extLst>
          </p:cNvPr>
          <p:cNvSpPr txBox="1"/>
          <p:nvPr/>
        </p:nvSpPr>
        <p:spPr>
          <a:xfrm>
            <a:off x="838200" y="4978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A66900"/>
                </a:solidFill>
                <a:latin typeface="Aptos" panose="020B0004020202020204" pitchFamily="34" charset="0"/>
              </a:rPr>
              <a:t>8 passed  |  8 failed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D09F7458-82E3-54E3-ED8C-87D08F769F83}"/>
              </a:ext>
            </a:extLst>
          </p:cNvPr>
          <p:cNvSpPr txBox="1"/>
          <p:nvPr/>
        </p:nvSpPr>
        <p:spPr>
          <a:xfrm>
            <a:off x="4521200" y="4572000"/>
            <a:ext cx="67310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63041"/>
                </a:solidFill>
                <a:latin typeface="Aptos" panose="020B0004020202020204" pitchFamily="34" charset="0"/>
              </a:rPr>
              <a:t>The failures are golden-image differences after recent UI changes. They require intentional review and baseline refresh - not concealment - before claiming a fully green suite.</a:t>
            </a:r>
          </a:p>
        </p:txBody>
      </p:sp>
    </p:spTree>
    <p:extLst>
      <p:ext uri="{BB962C8B-B14F-4D97-AF65-F5344CB8AC3E}">
        <p14:creationId xmlns:p14="http://schemas.microsoft.com/office/powerpoint/2010/main" val="153155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67112AE8-5A87-1D29-18C9-2247BD780FAD}"/>
              </a:ext>
            </a:extLst>
          </p:cNvPr>
          <p:cNvSpPr txBox="1"/>
          <p:nvPr/>
        </p:nvSpPr>
        <p:spPr>
          <a:xfrm>
            <a:off x="533400" y="304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008B8B"/>
                </a:solidFill>
                <a:latin typeface="Aptos" panose="020B0004020202020204" pitchFamily="34" charset="0"/>
              </a:rPr>
              <a:t>SYSTEM DEFENSE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587FD6D2-43BF-B740-F729-D337B6C35C66}"/>
              </a:ext>
            </a:extLst>
          </p:cNvPr>
          <p:cNvSpPr txBox="1"/>
          <p:nvPr/>
        </p:nvSpPr>
        <p:spPr>
          <a:xfrm>
            <a:off x="533400" y="6096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Progress moved from foundation to integrated care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1916ACF-09B9-9A51-2745-955254941FFA}"/>
              </a:ext>
            </a:extLst>
          </p:cNvPr>
          <p:cNvCxnSpPr/>
          <p:nvPr/>
        </p:nvCxnSpPr>
        <p:spPr>
          <a:xfrm>
            <a:off x="533400" y="1358900"/>
            <a:ext cx="111252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number">
            <a:extLst>
              <a:ext uri="{FF2B5EF4-FFF2-40B4-BE49-F238E27FC236}">
                <a16:creationId xmlns:a16="http://schemas.microsoft.com/office/drawing/2014/main" id="{FA7A6D7F-DE06-C9ED-0D76-2A4F92973FFA}"/>
              </a:ext>
            </a:extLst>
          </p:cNvPr>
          <p:cNvSpPr txBox="1"/>
          <p:nvPr/>
        </p:nvSpPr>
        <p:spPr>
          <a:xfrm>
            <a:off x="11430000" y="6477000"/>
            <a:ext cx="228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900">
                <a:solidFill>
                  <a:srgbClr val="5B7080"/>
                </a:solidFill>
                <a:latin typeface="Aptos" panose="020B0004020202020204" pitchFamily="34" charset="0"/>
              </a:rPr>
              <a:t>12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C84789-18D2-D342-4833-1A898E23DD8D}"/>
              </a:ext>
            </a:extLst>
          </p:cNvPr>
          <p:cNvCxnSpPr/>
          <p:nvPr/>
        </p:nvCxnSpPr>
        <p:spPr>
          <a:xfrm>
            <a:off x="1320800" y="4826000"/>
            <a:ext cx="9550400" cy="0"/>
          </a:xfrm>
          <a:prstGeom prst="straightConnector1">
            <a:avLst/>
          </a:prstGeom>
          <a:ln w="1905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box">
            <a:extLst>
              <a:ext uri="{FF2B5EF4-FFF2-40B4-BE49-F238E27FC236}">
                <a16:creationId xmlns:a16="http://schemas.microsoft.com/office/drawing/2014/main" id="{3F7C5786-8CE6-4F69-9316-A72808FDD652}"/>
              </a:ext>
            </a:extLst>
          </p:cNvPr>
          <p:cNvSpPr/>
          <p:nvPr/>
        </p:nvSpPr>
        <p:spPr>
          <a:xfrm>
            <a:off x="787400" y="2032000"/>
            <a:ext cx="3378200" cy="23622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8EB7852-26A2-D844-40DE-14DE4314F87E}"/>
              </a:ext>
            </a:extLst>
          </p:cNvPr>
          <p:cNvSpPr txBox="1"/>
          <p:nvPr/>
        </p:nvSpPr>
        <p:spPr>
          <a:xfrm>
            <a:off x="1016000" y="2286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008B8B"/>
                </a:solidFill>
                <a:latin typeface="Aptos" panose="020B0004020202020204" pitchFamily="34" charset="0"/>
              </a:rPr>
              <a:t>09 AUG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3313720-20A5-906B-F10E-6768E8FA72A9}"/>
              </a:ext>
            </a:extLst>
          </p:cNvPr>
          <p:cNvSpPr txBox="1"/>
          <p:nvPr/>
        </p:nvSpPr>
        <p:spPr>
          <a:xfrm>
            <a:off x="1016000" y="27432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B2545"/>
                </a:solidFill>
                <a:latin typeface="Aptos" panose="020B0004020202020204" pitchFamily="34" charset="0"/>
              </a:rPr>
              <a:t>Foundation verified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6CB04C31-5301-6EB1-A19C-BC4453A805D8}"/>
              </a:ext>
            </a:extLst>
          </p:cNvPr>
          <p:cNvSpPr txBox="1"/>
          <p:nvPr/>
        </p:nvSpPr>
        <p:spPr>
          <a:xfrm>
            <a:off x="1016000" y="3276600"/>
            <a:ext cx="29210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B7080"/>
                </a:solidFill>
                <a:latin typeface="Aptos" panose="020B0004020202020204" pitchFamily="34" charset="0"/>
              </a:rPr>
              <a:t>Flutter architecture, role routing, live Supabase contract, public discovery, auth, and initial workspaces.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F08F79-C497-2D68-176A-2B3506648383}"/>
              </a:ext>
            </a:extLst>
          </p:cNvPr>
          <p:cNvSpPr/>
          <p:nvPr/>
        </p:nvSpPr>
        <p:spPr>
          <a:xfrm>
            <a:off x="2362200" y="4724400"/>
            <a:ext cx="203200" cy="2032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box">
            <a:extLst>
              <a:ext uri="{FF2B5EF4-FFF2-40B4-BE49-F238E27FC236}">
                <a16:creationId xmlns:a16="http://schemas.microsoft.com/office/drawing/2014/main" id="{F2F8DA07-607F-E6DD-1CB3-036D976A7FA9}"/>
              </a:ext>
            </a:extLst>
          </p:cNvPr>
          <p:cNvSpPr/>
          <p:nvPr/>
        </p:nvSpPr>
        <p:spPr>
          <a:xfrm>
            <a:off x="4394200" y="2032000"/>
            <a:ext cx="3378200" cy="2362200"/>
          </a:xfrm>
          <a:prstGeom prst="roundRect">
            <a:avLst/>
          </a:prstGeom>
          <a:solidFill>
            <a:srgbClr val="E4F7F4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73361961-11D7-1D32-C237-90FC5AABF241}"/>
              </a:ext>
            </a:extLst>
          </p:cNvPr>
          <p:cNvSpPr txBox="1"/>
          <p:nvPr/>
        </p:nvSpPr>
        <p:spPr>
          <a:xfrm>
            <a:off x="4622800" y="2286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008B8B"/>
                </a:solidFill>
                <a:latin typeface="Aptos" panose="020B0004020202020204" pitchFamily="34" charset="0"/>
              </a:rPr>
              <a:t>23-26 AUG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112CEAA-705B-1204-D4CC-7A80973E2437}"/>
              </a:ext>
            </a:extLst>
          </p:cNvPr>
          <p:cNvSpPr txBox="1"/>
          <p:nvPr/>
        </p:nvSpPr>
        <p:spPr>
          <a:xfrm>
            <a:off x="4622800" y="27432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B2545"/>
                </a:solidFill>
                <a:latin typeface="Aptos" panose="020B0004020202020204" pitchFamily="34" charset="0"/>
              </a:rPr>
              <a:t>Care workflow expansion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E956ED5-B9B0-2E70-1971-851AA0E6E78E}"/>
              </a:ext>
            </a:extLst>
          </p:cNvPr>
          <p:cNvSpPr txBox="1"/>
          <p:nvPr/>
        </p:nvSpPr>
        <p:spPr>
          <a:xfrm>
            <a:off x="4622800" y="3276600"/>
            <a:ext cx="2921000" cy="16619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B7080"/>
                </a:solidFill>
                <a:latin typeface="Aptos" panose="020B0004020202020204" pitchFamily="34" charset="0"/>
              </a:rPr>
              <a:t>Multi-hospital authorization, online requests, patient linking, structured prescriptions and diagnostics, persistent messaging, reminders.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64193F-534C-A969-058A-1E833E229B62}"/>
              </a:ext>
            </a:extLst>
          </p:cNvPr>
          <p:cNvSpPr/>
          <p:nvPr/>
        </p:nvSpPr>
        <p:spPr>
          <a:xfrm>
            <a:off x="5969000" y="4724400"/>
            <a:ext cx="203200" cy="2032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040F6DDD-5DC3-7DD3-576E-3607A7AC874D}"/>
              </a:ext>
            </a:extLst>
          </p:cNvPr>
          <p:cNvSpPr/>
          <p:nvPr/>
        </p:nvSpPr>
        <p:spPr>
          <a:xfrm>
            <a:off x="8001000" y="2032000"/>
            <a:ext cx="3378200" cy="2362200"/>
          </a:xfrm>
          <a:prstGeom prst="roundRect">
            <a:avLst/>
          </a:prstGeom>
          <a:solidFill>
            <a:srgbClr val="E6F1F9"/>
          </a:solidFill>
          <a:ln w="12700">
            <a:solidFill>
              <a:srgbClr val="CF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758DBD1B-7A2F-5E78-6557-A60DA64B3C44}"/>
              </a:ext>
            </a:extLst>
          </p:cNvPr>
          <p:cNvSpPr txBox="1"/>
          <p:nvPr/>
        </p:nvSpPr>
        <p:spPr>
          <a:xfrm>
            <a:off x="8229600" y="22860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008B8B"/>
                </a:solidFill>
                <a:latin typeface="Aptos" panose="020B0004020202020204" pitchFamily="34" charset="0"/>
              </a:rPr>
              <a:t>02 SEP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F9202AF7-E8B9-DE93-C2A0-9A38E03317C7}"/>
              </a:ext>
            </a:extLst>
          </p:cNvPr>
          <p:cNvSpPr txBox="1"/>
          <p:nvPr/>
        </p:nvSpPr>
        <p:spPr>
          <a:xfrm>
            <a:off x="8229600" y="27432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B2545"/>
                </a:solidFill>
                <a:latin typeface="Aptos" panose="020B0004020202020204" pitchFamily="34" charset="0"/>
              </a:rPr>
              <a:t>Current defense state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E28259D4-64D3-1F93-3156-5EF028B9A0D8}"/>
              </a:ext>
            </a:extLst>
          </p:cNvPr>
          <p:cNvSpPr txBox="1"/>
          <p:nvPr/>
        </p:nvSpPr>
        <p:spPr>
          <a:xfrm>
            <a:off x="8229600" y="3276600"/>
            <a:ext cx="29210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5B7080"/>
                </a:solidFill>
                <a:latin typeface="Aptos" panose="020B0004020202020204" pitchFamily="34" charset="0"/>
              </a:rPr>
              <a:t>Care assistant integration, 63 migrations, clean static analysis, broad automated coverage, and identified golden-test drift.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49C6D75-B546-84B2-6A48-4E3C9B267194}"/>
              </a:ext>
            </a:extLst>
          </p:cNvPr>
          <p:cNvSpPr/>
          <p:nvPr/>
        </p:nvSpPr>
        <p:spPr>
          <a:xfrm>
            <a:off x="9575800" y="4724400"/>
            <a:ext cx="203200" cy="203200"/>
          </a:xfrm>
          <a:prstGeom prst="ellipse">
            <a:avLst/>
          </a:prstGeom>
          <a:solidFill>
            <a:srgbClr val="008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342D533C-ED14-A387-C4F0-5EA0F38DC581}"/>
              </a:ext>
            </a:extLst>
          </p:cNvPr>
          <p:cNvSpPr txBox="1"/>
          <p:nvPr/>
        </p:nvSpPr>
        <p:spPr>
          <a:xfrm>
            <a:off x="1524000" y="54610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b="1">
                <a:solidFill>
                  <a:srgbClr val="0B2545"/>
                </a:solidFill>
                <a:latin typeface="Aptos" panose="020B0004020202020204" pitchFamily="34" charset="0"/>
              </a:rPr>
              <a:t>Current state: a functioning integrated prototype with verified strengths and explicit gaps.</a:t>
            </a:r>
          </a:p>
        </p:txBody>
      </p:sp>
    </p:spTree>
    <p:extLst>
      <p:ext uri="{BB962C8B-B14F-4D97-AF65-F5344CB8AC3E}">
        <p14:creationId xmlns:p14="http://schemas.microsoft.com/office/powerpoint/2010/main" val="1652126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>
            <a:extLst>
              <a:ext uri="{FF2B5EF4-FFF2-40B4-BE49-F238E27FC236}">
                <a16:creationId xmlns:a16="http://schemas.microsoft.com/office/drawing/2014/main" id="{44166550-BACE-3976-54C3-7EFFEF32ECF2}"/>
              </a:ext>
            </a:extLst>
          </p:cNvPr>
          <p:cNvSpPr txBox="1"/>
          <p:nvPr/>
        </p:nvSpPr>
        <p:spPr>
          <a:xfrm>
            <a:off x="533400" y="304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008B8B"/>
                </a:solidFill>
                <a:latin typeface="Aptos" panose="020B0004020202020204" pitchFamily="34" charset="0"/>
              </a:rPr>
              <a:t>SYSTEM DEFENSE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6D5F04C8-B4FD-BBDE-F8CD-5E76E8DC7B36}"/>
              </a:ext>
            </a:extLst>
          </p:cNvPr>
          <p:cNvSpPr txBox="1"/>
          <p:nvPr/>
        </p:nvSpPr>
        <p:spPr>
          <a:xfrm>
            <a:off x="533400" y="609600"/>
            <a:ext cx="1112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0B2545"/>
                </a:solidFill>
                <a:latin typeface="Aptos" panose="020B0004020202020204" pitchFamily="34" charset="0"/>
              </a:rPr>
              <a:t>Four actions remain before production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ACCED4E-1B1F-8357-A15B-DC8C7D32F7F5}"/>
              </a:ext>
            </a:extLst>
          </p:cNvPr>
          <p:cNvCxnSpPr/>
          <p:nvPr/>
        </p:nvCxnSpPr>
        <p:spPr>
          <a:xfrm>
            <a:off x="533400" y="1358900"/>
            <a:ext cx="111252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number">
            <a:extLst>
              <a:ext uri="{FF2B5EF4-FFF2-40B4-BE49-F238E27FC236}">
                <a16:creationId xmlns:a16="http://schemas.microsoft.com/office/drawing/2014/main" id="{45CB3B1C-6DD2-C07D-6EEB-4C91103F6676}"/>
              </a:ext>
            </a:extLst>
          </p:cNvPr>
          <p:cNvSpPr txBox="1"/>
          <p:nvPr/>
        </p:nvSpPr>
        <p:spPr>
          <a:xfrm>
            <a:off x="11430000" y="6477000"/>
            <a:ext cx="2286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900">
                <a:solidFill>
                  <a:srgbClr val="5B7080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476BF81-BFB0-93A0-764D-37B5E60AE7DF}"/>
              </a:ext>
            </a:extLst>
          </p:cNvPr>
          <p:cNvSpPr txBox="1"/>
          <p:nvPr/>
        </p:nvSpPr>
        <p:spPr>
          <a:xfrm>
            <a:off x="609600" y="1828800"/>
            <a:ext cx="60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008B8B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7C0467D-9B9B-9B17-F434-FB378EB8E3AE}"/>
              </a:ext>
            </a:extLst>
          </p:cNvPr>
          <p:cNvSpPr txBox="1"/>
          <p:nvPr/>
        </p:nvSpPr>
        <p:spPr>
          <a:xfrm>
            <a:off x="1473200" y="18288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B2545"/>
                </a:solidFill>
                <a:latin typeface="Aptos" panose="020B0004020202020204" pitchFamily="34" charset="0"/>
              </a:rPr>
              <a:t>Review visual drift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BEC7A37-E8EC-7882-69F2-F6D818A3D0BE}"/>
              </a:ext>
            </a:extLst>
          </p:cNvPr>
          <p:cNvSpPr txBox="1"/>
          <p:nvPr/>
        </p:nvSpPr>
        <p:spPr>
          <a:xfrm>
            <a:off x="5207000" y="1828800"/>
            <a:ext cx="6350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B7080"/>
                </a:solidFill>
                <a:latin typeface="Aptos" panose="020B0004020202020204" pitchFamily="34" charset="0"/>
              </a:rPr>
              <a:t>Confirm intended UI changes, then update only approved golden baselines.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7C639A-9C9F-3CE0-5B1C-CF17064EC6B7}"/>
              </a:ext>
            </a:extLst>
          </p:cNvPr>
          <p:cNvCxnSpPr/>
          <p:nvPr/>
        </p:nvCxnSpPr>
        <p:spPr>
          <a:xfrm>
            <a:off x="1473200" y="2616200"/>
            <a:ext cx="100838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">
            <a:extLst>
              <a:ext uri="{FF2B5EF4-FFF2-40B4-BE49-F238E27FC236}">
                <a16:creationId xmlns:a16="http://schemas.microsoft.com/office/drawing/2014/main" id="{95588987-F59A-006D-7ACF-902028CBDEE3}"/>
              </a:ext>
            </a:extLst>
          </p:cNvPr>
          <p:cNvSpPr txBox="1"/>
          <p:nvPr/>
        </p:nvSpPr>
        <p:spPr>
          <a:xfrm>
            <a:off x="609600" y="2895600"/>
            <a:ext cx="60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008B8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5FBFCF8-49E8-84D2-2512-1CC46DE4FCA4}"/>
              </a:ext>
            </a:extLst>
          </p:cNvPr>
          <p:cNvSpPr txBox="1"/>
          <p:nvPr/>
        </p:nvSpPr>
        <p:spPr>
          <a:xfrm>
            <a:off x="1473200" y="28956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B2545"/>
                </a:solidFill>
                <a:latin typeface="Aptos" panose="020B0004020202020204" pitchFamily="34" charset="0"/>
              </a:rPr>
              <a:t>Run live role journeys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67215A7-8C56-B719-C478-96F58762914B}"/>
              </a:ext>
            </a:extLst>
          </p:cNvPr>
          <p:cNvSpPr txBox="1"/>
          <p:nvPr/>
        </p:nvSpPr>
        <p:spPr>
          <a:xfrm>
            <a:off x="5207000" y="2895600"/>
            <a:ext cx="6350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B7080"/>
                </a:solidFill>
                <a:latin typeface="Aptos" panose="020B0004020202020204" pitchFamily="34" charset="0"/>
              </a:rPr>
              <a:t>Use seeded non-production accounts for patient-to-doctor-to-admin end-to-end tests.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82FD8C-F761-48D5-4CB1-314CCA5F8491}"/>
              </a:ext>
            </a:extLst>
          </p:cNvPr>
          <p:cNvCxnSpPr/>
          <p:nvPr/>
        </p:nvCxnSpPr>
        <p:spPr>
          <a:xfrm>
            <a:off x="1473200" y="3683000"/>
            <a:ext cx="100838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">
            <a:extLst>
              <a:ext uri="{FF2B5EF4-FFF2-40B4-BE49-F238E27FC236}">
                <a16:creationId xmlns:a16="http://schemas.microsoft.com/office/drawing/2014/main" id="{E01AC0B9-1F76-B60D-B831-2B4D171838E9}"/>
              </a:ext>
            </a:extLst>
          </p:cNvPr>
          <p:cNvSpPr txBox="1"/>
          <p:nvPr/>
        </p:nvSpPr>
        <p:spPr>
          <a:xfrm>
            <a:off x="609600" y="3962400"/>
            <a:ext cx="60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008B8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9B452D2-73F0-764F-B6CD-37B599C5BC54}"/>
              </a:ext>
            </a:extLst>
          </p:cNvPr>
          <p:cNvSpPr txBox="1"/>
          <p:nvPr/>
        </p:nvSpPr>
        <p:spPr>
          <a:xfrm>
            <a:off x="1473200" y="3962400"/>
            <a:ext cx="350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B2545"/>
                </a:solidFill>
                <a:latin typeface="Aptos" panose="020B0004020202020204" pitchFamily="34" charset="0"/>
              </a:rPr>
              <a:t>Validate providers and devices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CB2BE74C-6CD9-BF4E-9F12-ADA3D6C03DBC}"/>
              </a:ext>
            </a:extLst>
          </p:cNvPr>
          <p:cNvSpPr txBox="1"/>
          <p:nvPr/>
        </p:nvSpPr>
        <p:spPr>
          <a:xfrm>
            <a:off x="5207000" y="3962400"/>
            <a:ext cx="6350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B7080"/>
                </a:solidFill>
                <a:latin typeface="Aptos" panose="020B0004020202020204" pitchFamily="34" charset="0"/>
              </a:rPr>
              <a:t>Exercise Groq, SMTP, Jitsi, scheduled jobs, Android hardware, and iOS/macOS builds.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1793F0-3BD2-1E79-EF98-0AC67432126B}"/>
              </a:ext>
            </a:extLst>
          </p:cNvPr>
          <p:cNvCxnSpPr/>
          <p:nvPr/>
        </p:nvCxnSpPr>
        <p:spPr>
          <a:xfrm>
            <a:off x="1473200" y="4749800"/>
            <a:ext cx="100838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">
            <a:extLst>
              <a:ext uri="{FF2B5EF4-FFF2-40B4-BE49-F238E27FC236}">
                <a16:creationId xmlns:a16="http://schemas.microsoft.com/office/drawing/2014/main" id="{57B41352-E30B-2FA9-A64F-EC571D69A96F}"/>
              </a:ext>
            </a:extLst>
          </p:cNvPr>
          <p:cNvSpPr txBox="1"/>
          <p:nvPr/>
        </p:nvSpPr>
        <p:spPr>
          <a:xfrm>
            <a:off x="609600" y="5029200"/>
            <a:ext cx="609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008B8B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6FB81114-C9DA-5CA2-1ECC-08C1245B32C3}"/>
              </a:ext>
            </a:extLst>
          </p:cNvPr>
          <p:cNvSpPr txBox="1"/>
          <p:nvPr/>
        </p:nvSpPr>
        <p:spPr>
          <a:xfrm>
            <a:off x="1473200" y="5029200"/>
            <a:ext cx="3505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B2545"/>
                </a:solidFill>
                <a:latin typeface="Aptos" panose="020B0004020202020204" pitchFamily="34" charset="0"/>
              </a:rPr>
              <a:t>Formalize operations and compliance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C3A7E4CA-7CB8-0254-8560-4F84F0FD8249}"/>
              </a:ext>
            </a:extLst>
          </p:cNvPr>
          <p:cNvSpPr txBox="1"/>
          <p:nvPr/>
        </p:nvSpPr>
        <p:spPr>
          <a:xfrm>
            <a:off x="5207000" y="5029200"/>
            <a:ext cx="6350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5B7080"/>
                </a:solidFill>
                <a:latin typeface="Aptos" panose="020B0004020202020204" pitchFamily="34" charset="0"/>
              </a:rPr>
              <a:t>Complete privacy/security review, monitoring, load tests, backups, retention, recovery, and key rotation.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8345E3-7851-20ED-2B82-205DCEE93872}"/>
              </a:ext>
            </a:extLst>
          </p:cNvPr>
          <p:cNvCxnSpPr/>
          <p:nvPr/>
        </p:nvCxnSpPr>
        <p:spPr>
          <a:xfrm>
            <a:off x="1473200" y="5816600"/>
            <a:ext cx="10083800" cy="0"/>
          </a:xfrm>
          <a:prstGeom prst="straightConnector1">
            <a:avLst/>
          </a:prstGeom>
          <a:ln w="12700">
            <a:solidFill>
              <a:srgbClr val="CF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361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background">
            <a:extLst>
              <a:ext uri="{FF2B5EF4-FFF2-40B4-BE49-F238E27FC236}">
                <a16:creationId xmlns:a16="http://schemas.microsoft.com/office/drawing/2014/main" id="{1988806B-0315-8525-1CC1-594866B99D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CB1C8B1-82C9-F847-20A9-E86B95837F42}"/>
              </a:ext>
            </a:extLst>
          </p:cNvPr>
          <p:cNvSpPr txBox="1"/>
          <p:nvPr/>
        </p:nvSpPr>
        <p:spPr>
          <a:xfrm>
            <a:off x="609600" y="584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26A69A"/>
                </a:solidFill>
                <a:latin typeface="Aptos" panose="020B0004020202020204" pitchFamily="34" charset="0"/>
              </a:rPr>
              <a:t>DEFENSE CONCLUSION</a:t>
            </a:r>
          </a:p>
        </p:txBody>
      </p:sp>
      <p:sp>
        <p:nvSpPr>
          <p:cNvPr id="4" name="closing-title">
            <a:extLst>
              <a:ext uri="{FF2B5EF4-FFF2-40B4-BE49-F238E27FC236}">
                <a16:creationId xmlns:a16="http://schemas.microsoft.com/office/drawing/2014/main" id="{2669C934-BDD7-4E57-D876-2BE4A5C6F166}"/>
              </a:ext>
            </a:extLst>
          </p:cNvPr>
          <p:cNvSpPr txBox="1"/>
          <p:nvPr/>
        </p:nvSpPr>
        <p:spPr>
          <a:xfrm>
            <a:off x="609600" y="12192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200" b="1">
                <a:solidFill>
                  <a:srgbClr val="FFFFFF"/>
                </a:solidFill>
                <a:latin typeface="Aptos" panose="020B0004020202020204" pitchFamily="34" charset="0"/>
              </a:rPr>
              <a:t>CareNavigator PH demonstrates a viable, secure path from finding care to managing care.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8B843BC-80B6-350F-4FDE-2D5424691E54}"/>
              </a:ext>
            </a:extLst>
          </p:cNvPr>
          <p:cNvSpPr txBox="1"/>
          <p:nvPr/>
        </p:nvSpPr>
        <p:spPr>
          <a:xfrm>
            <a:off x="609600" y="3175000"/>
            <a:ext cx="104648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EDF2F5"/>
                </a:solidFill>
                <a:latin typeface="Aptos" panose="020B0004020202020204" pitchFamily="34" charset="0"/>
              </a:rPr>
              <a:t>The prototype is defensible because its value, architecture, authorization boundaries, database relationships, implemented workflows, and remaining risks are all visible and testable.</a:t>
            </a:r>
          </a:p>
        </p:txBody>
      </p:sp>
      <p:sp>
        <p:nvSpPr>
          <p:cNvPr id="6" name="box">
            <a:extLst>
              <a:ext uri="{FF2B5EF4-FFF2-40B4-BE49-F238E27FC236}">
                <a16:creationId xmlns:a16="http://schemas.microsoft.com/office/drawing/2014/main" id="{038EFC57-8A39-87FC-B79A-962FD3BD6635}"/>
              </a:ext>
            </a:extLst>
          </p:cNvPr>
          <p:cNvSpPr/>
          <p:nvPr/>
        </p:nvSpPr>
        <p:spPr>
          <a:xfrm>
            <a:off x="609600" y="4724400"/>
            <a:ext cx="104648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6A80AC8-A130-0182-5D85-B98CF4FF8A84}"/>
              </a:ext>
            </a:extLst>
          </p:cNvPr>
          <p:cNvSpPr txBox="1"/>
          <p:nvPr/>
        </p:nvSpPr>
        <p:spPr>
          <a:xfrm>
            <a:off x="914400" y="50038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08B8B"/>
                </a:solidFill>
                <a:latin typeface="Aptos" panose="020B0004020202020204" pitchFamily="34" charset="0"/>
              </a:rPr>
              <a:t>Panel decision requested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A21DFC0-B4EC-8642-174C-E23E84552804}"/>
              </a:ext>
            </a:extLst>
          </p:cNvPr>
          <p:cNvSpPr txBox="1"/>
          <p:nvPr/>
        </p:nvSpPr>
        <p:spPr>
          <a:xfrm>
            <a:off x="4064000" y="4927600"/>
            <a:ext cx="6604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0B2545"/>
                </a:solidFill>
                <a:latin typeface="Aptos" panose="020B0004020202020204" pitchFamily="34" charset="0"/>
              </a:rPr>
              <a:t>Approve continued development toward live end-to-end validation and production-readiness controls.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F75FE76-EA96-6AD6-E961-A05638FF9C66}"/>
              </a:ext>
            </a:extLst>
          </p:cNvPr>
          <p:cNvSpPr txBox="1"/>
          <p:nvPr/>
        </p:nvSpPr>
        <p:spPr>
          <a:xfrm>
            <a:off x="609600" y="6299200"/>
            <a:ext cx="10464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26A69A"/>
                </a:solidFill>
                <a:latin typeface="Aptos" panose="020B0004020202020204" pitchFamily="34" charset="0"/>
              </a:rPr>
              <a:t>CareNavigator PH  |  System Defense  |  02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026295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1696</Words>
  <Application>Microsoft Office PowerPoint</Application>
  <PresentationFormat>Custom</PresentationFormat>
  <Paragraphs>297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laza</dc:creator>
  <cp:lastModifiedBy>neil laza</cp:lastModifiedBy>
  <cp:revision>1</cp:revision>
  <dcterms:created xsi:type="dcterms:W3CDTF">2026-09-02T03:35:25Z</dcterms:created>
  <dcterms:modified xsi:type="dcterms:W3CDTF">2026-09-02T03:35:25Z</dcterms:modified>
</cp:coreProperties>
</file>